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76" r:id="rId9"/>
    <p:sldId id="263" r:id="rId10"/>
    <p:sldId id="264" r:id="rId11"/>
    <p:sldId id="277" r:id="rId12"/>
    <p:sldId id="278" r:id="rId13"/>
    <p:sldId id="279" r:id="rId14"/>
    <p:sldId id="265" r:id="rId15"/>
    <p:sldId id="280" r:id="rId16"/>
    <p:sldId id="274" r:id="rId17"/>
  </p:sldIdLst>
  <p:sldSz cx="18288000" cy="10287000"/>
  <p:notesSz cx="6858000" cy="9144000"/>
  <p:embeddedFontLst>
    <p:embeddedFont>
      <p:font typeface="Aileron Bold" panose="00000800000000000000" pitchFamily="50" charset="0"/>
      <p:regular r:id="rId19"/>
      <p:bold r:id="rId20"/>
      <p:boldItalic r:id="rId21"/>
    </p:embeddedFont>
    <p:embeddedFont>
      <p:font typeface="Aileron Light" panose="00000400000000000000" pitchFamily="50" charset="0"/>
      <p:regular r:id="rId22"/>
      <p:italic r:id="rId23"/>
    </p:embeddedFont>
    <p:embeddedFont>
      <p:font typeface="Cambria Math" panose="02040503050406030204" pitchFamily="18" charset="0"/>
      <p:regular r:id="rId24"/>
    </p:embeddedFont>
    <p:embeddedFont>
      <p:font typeface="Nunito Sans Condensed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3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9AF38-26AA-41E5-ACAE-4E45FE945F7F}" type="datetimeFigureOut">
              <a:rPr lang="en-US" smtClean="0"/>
              <a:t>15-Jun-26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5746E-5F92-4BBB-9706-7938F9741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14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5746E-5F92-4BBB-9706-7938F97416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6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79666" y="5647273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415146" y="4353462"/>
            <a:ext cx="5638736" cy="2964891"/>
            <a:chOff x="0" y="0"/>
            <a:chExt cx="1207473" cy="9074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07473" cy="907466"/>
            </a:xfrm>
            <a:custGeom>
              <a:avLst/>
              <a:gdLst/>
              <a:ahLst/>
              <a:cxnLst/>
              <a:rect l="l" t="t" r="r" b="b"/>
              <a:pathLst>
                <a:path w="1207473" h="907466">
                  <a:moveTo>
                    <a:pt x="99568" y="0"/>
                  </a:moveTo>
                  <a:lnTo>
                    <a:pt x="1107904" y="0"/>
                  </a:lnTo>
                  <a:cubicBezTo>
                    <a:pt x="1162895" y="0"/>
                    <a:pt x="1207473" y="44578"/>
                    <a:pt x="1207473" y="99568"/>
                  </a:cubicBezTo>
                  <a:lnTo>
                    <a:pt x="1207473" y="807898"/>
                  </a:lnTo>
                  <a:cubicBezTo>
                    <a:pt x="1207473" y="862888"/>
                    <a:pt x="1162895" y="907466"/>
                    <a:pt x="1107904" y="907466"/>
                  </a:cubicBezTo>
                  <a:lnTo>
                    <a:pt x="99568" y="907466"/>
                  </a:lnTo>
                  <a:cubicBezTo>
                    <a:pt x="44578" y="907466"/>
                    <a:pt x="0" y="862888"/>
                    <a:pt x="0" y="807898"/>
                  </a:cubicBezTo>
                  <a:lnTo>
                    <a:pt x="0" y="99568"/>
                  </a:lnTo>
                  <a:cubicBezTo>
                    <a:pt x="0" y="44578"/>
                    <a:pt x="44578" y="0"/>
                    <a:pt x="99568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EEF0FE">
                      <a:alpha val="100000"/>
                    </a:srgbClr>
                  </a:gs>
                  <a:gs pos="25000">
                    <a:srgbClr val="958B96">
                      <a:alpha val="100000"/>
                    </a:srgbClr>
                  </a:gs>
                  <a:gs pos="50000">
                    <a:srgbClr val="EEF1FF">
                      <a:alpha val="100000"/>
                    </a:srgbClr>
                  </a:gs>
                  <a:gs pos="75000">
                    <a:srgbClr val="968B96">
                      <a:alpha val="100000"/>
                    </a:srgbClr>
                  </a:gs>
                  <a:gs pos="100000">
                    <a:srgbClr val="EEF1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07473" cy="945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071498" y="4333505"/>
            <a:ext cx="5641848" cy="2962656"/>
            <a:chOff x="0" y="0"/>
            <a:chExt cx="1207473" cy="9074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7473" cy="907466"/>
            </a:xfrm>
            <a:custGeom>
              <a:avLst/>
              <a:gdLst/>
              <a:ahLst/>
              <a:cxnLst/>
              <a:rect l="l" t="t" r="r" b="b"/>
              <a:pathLst>
                <a:path w="1207473" h="907466">
                  <a:moveTo>
                    <a:pt x="99568" y="0"/>
                  </a:moveTo>
                  <a:lnTo>
                    <a:pt x="1107904" y="0"/>
                  </a:lnTo>
                  <a:cubicBezTo>
                    <a:pt x="1162895" y="0"/>
                    <a:pt x="1207473" y="44578"/>
                    <a:pt x="1207473" y="99568"/>
                  </a:cubicBezTo>
                  <a:lnTo>
                    <a:pt x="1207473" y="807898"/>
                  </a:lnTo>
                  <a:cubicBezTo>
                    <a:pt x="1207473" y="862888"/>
                    <a:pt x="1162895" y="907466"/>
                    <a:pt x="1107904" y="907466"/>
                  </a:cubicBezTo>
                  <a:lnTo>
                    <a:pt x="99568" y="907466"/>
                  </a:lnTo>
                  <a:cubicBezTo>
                    <a:pt x="44578" y="907466"/>
                    <a:pt x="0" y="862888"/>
                    <a:pt x="0" y="807898"/>
                  </a:cubicBezTo>
                  <a:lnTo>
                    <a:pt x="0" y="99568"/>
                  </a:lnTo>
                  <a:cubicBezTo>
                    <a:pt x="0" y="44578"/>
                    <a:pt x="44578" y="0"/>
                    <a:pt x="995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33000"/>
                  </a:srgbClr>
                </a:gs>
                <a:gs pos="100000">
                  <a:srgbClr val="9B9B9B">
                    <a:alpha val="195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EEF0FE">
                      <a:alpha val="100000"/>
                    </a:srgbClr>
                  </a:gs>
                  <a:gs pos="25000">
                    <a:srgbClr val="958B96">
                      <a:alpha val="100000"/>
                    </a:srgbClr>
                  </a:gs>
                  <a:gs pos="50000">
                    <a:srgbClr val="EEF1FF">
                      <a:alpha val="100000"/>
                    </a:srgbClr>
                  </a:gs>
                  <a:gs pos="75000">
                    <a:srgbClr val="968B96">
                      <a:alpha val="100000"/>
                    </a:srgbClr>
                  </a:gs>
                  <a:gs pos="100000">
                    <a:srgbClr val="EEF1FF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07473" cy="945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017426" y="-3422367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4094967" y="881914"/>
            <a:ext cx="3164333" cy="5613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738322" y="2129954"/>
            <a:ext cx="6415078" cy="1643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45"/>
              </a:lnSpc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VIZIUNE</a:t>
            </a:r>
            <a:endParaRPr lang="en-US" sz="9817" b="1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9BAE431B-E6D0-EBB6-DC3F-2B62B083C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09E032A-2467-E63F-687E-D2F1A5E5F5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8" name="TextBox 25">
            <a:extLst>
              <a:ext uri="{FF2B5EF4-FFF2-40B4-BE49-F238E27FC236}">
                <a16:creationId xmlns:a16="http://schemas.microsoft.com/office/drawing/2014/main" id="{8AB473E2-4FFB-B2EF-058B-560827B2CBA1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F9A78866-EB64-83FA-D77C-88215ED07CDA}"/>
              </a:ext>
            </a:extLst>
          </p:cNvPr>
          <p:cNvSpPr txBox="1"/>
          <p:nvPr/>
        </p:nvSpPr>
        <p:spPr>
          <a:xfrm rot="5400000">
            <a:off x="9761373" y="-405875"/>
            <a:ext cx="262806" cy="515515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50" name="TextBox 26">
            <a:extLst>
              <a:ext uri="{FF2B5EF4-FFF2-40B4-BE49-F238E27FC236}">
                <a16:creationId xmlns:a16="http://schemas.microsoft.com/office/drawing/2014/main" id="{CD476823-F3A6-1A95-FA93-826E272509D7}"/>
              </a:ext>
            </a:extLst>
          </p:cNvPr>
          <p:cNvSpPr txBox="1"/>
          <p:nvPr/>
        </p:nvSpPr>
        <p:spPr>
          <a:xfrm>
            <a:off x="11277600" y="2165635"/>
            <a:ext cx="14787538" cy="1643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745"/>
              </a:lnSpc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MISIUNE</a:t>
            </a:r>
            <a:endParaRPr lang="en-US" sz="9817" b="1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51" name="TextBox 36">
            <a:extLst>
              <a:ext uri="{FF2B5EF4-FFF2-40B4-BE49-F238E27FC236}">
                <a16:creationId xmlns:a16="http://schemas.microsoft.com/office/drawing/2014/main" id="{B7B09ACB-932C-54D1-5D00-4215104AC178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5D7F79-8843-5281-8828-7FA700A5440B}"/>
              </a:ext>
            </a:extLst>
          </p:cNvPr>
          <p:cNvSpPr txBox="1"/>
          <p:nvPr/>
        </p:nvSpPr>
        <p:spPr>
          <a:xfrm>
            <a:off x="2253947" y="4750994"/>
            <a:ext cx="4299253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Soluționarea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digitală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problemei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"Cocktail Party"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prin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izolarea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precisă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surselor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vocale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dintr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-un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amestec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acustic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complex.</a:t>
            </a:r>
            <a:endParaRPr lang="en-US" sz="2700" spc="-57" dirty="0">
              <a:solidFill>
                <a:schemeClr val="bg1"/>
              </a:solidFill>
              <a:latin typeface="Aileron Light" panose="00000400000000000000" pitchFamily="50" charset="0"/>
              <a:ea typeface="Aileron Light"/>
              <a:cs typeface="Aileron Light"/>
              <a:sym typeface="Aileron Ligh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AA4D96-7583-DCBD-A94C-71B8414C5EB9}"/>
              </a:ext>
            </a:extLst>
          </p:cNvPr>
          <p:cNvSpPr txBox="1"/>
          <p:nvPr/>
        </p:nvSpPr>
        <p:spPr>
          <a:xfrm>
            <a:off x="11647348" y="4508062"/>
            <a:ext cx="4895235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Combinarea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metodelor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clasice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procesare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semnalelor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digitale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cu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rețelele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neurale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bazate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pe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mecanisme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atenție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(Transformer)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într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-o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platformă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 software </a:t>
            </a:r>
            <a:r>
              <a:rPr lang="en-US" sz="27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integrat</a:t>
            </a:r>
            <a:r>
              <a:rPr lang="ro-RO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ă</a:t>
            </a:r>
            <a:r>
              <a:rPr lang="en-US" sz="27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  <a:endParaRPr lang="en-US" sz="2700" spc="-57" dirty="0">
              <a:solidFill>
                <a:schemeClr val="bg1"/>
              </a:solidFill>
              <a:latin typeface="Aileron Light" panose="00000400000000000000" pitchFamily="50" charset="0"/>
              <a:ea typeface="Aileron Light"/>
              <a:cs typeface="Aileron Light"/>
              <a:sym typeface="Aileron Light"/>
            </a:endParaRPr>
          </a:p>
          <a:p>
            <a:endParaRPr lang="en-US" sz="27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89BD07-F0D5-0A6C-EDAE-78020C7514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8121365"/>
            <a:ext cx="7039957" cy="11336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0" grpId="0"/>
      <p:bldP spid="52" grpId="0"/>
      <p:bldP spid="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11620">
            <a:off x="5010422" y="3994009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493387">
            <a:off x="-6575999" y="-284329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/>
          <p:cNvSpPr txBox="1"/>
          <p:nvPr/>
        </p:nvSpPr>
        <p:spPr>
          <a:xfrm>
            <a:off x="1491033" y="881914"/>
            <a:ext cx="4048528" cy="5613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838200" y="1778441"/>
            <a:ext cx="8442662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32"/>
              </a:lnSpc>
            </a:pPr>
            <a:r>
              <a:rPr lang="en-US" sz="9600" b="1" spc="-539" dirty="0" err="1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Problema</a:t>
            </a:r>
            <a:r>
              <a:rPr lang="en-US" sz="9600" b="1" spc="-539" dirty="0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 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"</a:t>
            </a:r>
            <a:r>
              <a:rPr lang="en-US" sz="9600" b="1" spc="-539" dirty="0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Cocktail Party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"</a:t>
            </a:r>
            <a:endParaRPr lang="en-US" sz="9600" b="1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B734D7D0-9104-69C6-48C4-575D4B3F50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02DB4C8-D37B-89F7-8F55-4DC9681907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52" name="TextBox 25">
            <a:extLst>
              <a:ext uri="{FF2B5EF4-FFF2-40B4-BE49-F238E27FC236}">
                <a16:creationId xmlns:a16="http://schemas.microsoft.com/office/drawing/2014/main" id="{E7E0E510-9340-5A79-6710-F9C2C7E35979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2717EB-3232-B6FB-AF3B-FE14DF734637}"/>
              </a:ext>
            </a:extLst>
          </p:cNvPr>
          <p:cNvSpPr txBox="1"/>
          <p:nvPr/>
        </p:nvSpPr>
        <p:spPr>
          <a:xfrm>
            <a:off x="361679" y="7997266"/>
            <a:ext cx="175646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Replicarea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digitală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folosind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un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singur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microfon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(Blind Source Separation)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este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extrem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de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dificilă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D26C77-B369-CF25-B6C3-CD84DDBC6E95}"/>
              </a:ext>
            </a:extLst>
          </p:cNvPr>
          <p:cNvSpPr txBox="1"/>
          <p:nvPr/>
        </p:nvSpPr>
        <p:spPr>
          <a:xfrm>
            <a:off x="1539300" y="5221519"/>
            <a:ext cx="13106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Auzul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uman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filtrează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selectiv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o voce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într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-un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mediu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zgomotos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D97823-6A04-EFFD-1D7E-38B3B1717FEE}"/>
              </a:ext>
            </a:extLst>
          </p:cNvPr>
          <p:cNvSpPr txBox="1"/>
          <p:nvPr/>
        </p:nvSpPr>
        <p:spPr>
          <a:xfrm>
            <a:off x="1063050" y="6314559"/>
            <a:ext cx="48335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Elemente</a:t>
            </a:r>
            <a:r>
              <a:rPr lang="en-US" sz="3000" b="1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perturbatoare</a:t>
            </a:r>
            <a:r>
              <a:rPr lang="en-US" sz="30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endParaRPr lang="en-US" sz="3000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94808F-401A-A9BC-0C6E-99EB532666B3}"/>
              </a:ext>
            </a:extLst>
          </p:cNvPr>
          <p:cNvSpPr txBox="1"/>
          <p:nvPr/>
        </p:nvSpPr>
        <p:spPr>
          <a:xfrm>
            <a:off x="6083165" y="6056252"/>
            <a:ext cx="63953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Zgomot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staționar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Interferențe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non-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staționare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Aileron Light" panose="00000400000000000000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Ecou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870427EC-FD8E-C241-3AAF-D94195CE3E15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9" grpId="0"/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448350">
            <a:off x="1450219" y="7284684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333998">
            <a:off x="-3038843" y="-2020984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539300" y="1716424"/>
            <a:ext cx="95250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Limit</a:t>
            </a:r>
            <a:r>
              <a:rPr lang="ro-RO" sz="9600" dirty="0">
                <a:solidFill>
                  <a:schemeClr val="bg1"/>
                </a:solidFill>
                <a:latin typeface="Aileron Bold" panose="00000800000000000000" pitchFamily="50" charset="0"/>
              </a:rPr>
              <a:t>ă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rile </a:t>
            </a:r>
            <a:r>
              <a:rPr lang="en-US" sz="9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Metodelor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 DSP</a:t>
            </a:r>
            <a:endParaRPr lang="en-US" sz="9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693C1D11-4E58-E52B-BF86-3898F7F5D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6C0830D-22A0-3D7C-676B-934E8D89E8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28" name="TextBox 25">
            <a:extLst>
              <a:ext uri="{FF2B5EF4-FFF2-40B4-BE49-F238E27FC236}">
                <a16:creationId xmlns:a16="http://schemas.microsoft.com/office/drawing/2014/main" id="{7A6FCF0E-63C6-DA18-D046-40C49FAE8A3D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E82B7-7EBA-1A02-3308-6C76E387BA25}"/>
              </a:ext>
            </a:extLst>
          </p:cNvPr>
          <p:cNvSpPr txBox="1"/>
          <p:nvPr/>
        </p:nvSpPr>
        <p:spPr>
          <a:xfrm>
            <a:off x="2209800" y="4686740"/>
            <a:ext cx="103225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Tehnici</a:t>
            </a:r>
            <a:r>
              <a:rPr lang="en-US" sz="3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clasice</a:t>
            </a:r>
            <a:r>
              <a:rPr lang="en-US" sz="3000" dirty="0">
                <a:solidFill>
                  <a:schemeClr val="bg1"/>
                </a:solidFill>
                <a:latin typeface="Aileron Bold" panose="00000800000000000000" pitchFamily="50" charset="0"/>
              </a:rPr>
              <a:t>: </a:t>
            </a:r>
            <a:endParaRPr lang="en-US" sz="3000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58F8ED-5D24-A071-225E-D952069239C5}"/>
              </a:ext>
            </a:extLst>
          </p:cNvPr>
          <p:cNvSpPr txBox="1"/>
          <p:nvPr/>
        </p:nvSpPr>
        <p:spPr>
          <a:xfrm>
            <a:off x="857997" y="5448150"/>
            <a:ext cx="87630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Filtrarea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Wiener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Scăderea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Spectrală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Factorizarea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</a:rPr>
              <a:t>Matricelor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 Non-Negative</a:t>
            </a:r>
            <a:endParaRPr lang="en-US" sz="3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2DDE88-D41B-D186-999B-968314E8005B}"/>
              </a:ext>
            </a:extLst>
          </p:cNvPr>
          <p:cNvSpPr txBox="1"/>
          <p:nvPr/>
        </p:nvSpPr>
        <p:spPr>
          <a:xfrm>
            <a:off x="857997" y="7701202"/>
            <a:ext cx="14316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Aceste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metode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ro-RO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pot degrada anumite componente 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ale </a:t>
            </a:r>
            <a:r>
              <a:rPr lang="ro-RO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vorbirii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endParaRPr lang="en-US" sz="3000" dirty="0">
              <a:solidFill>
                <a:schemeClr val="bg1">
                  <a:lumMod val="85000"/>
                </a:schemeClr>
              </a:solidFill>
              <a:latin typeface="Aileron Bold" panose="000008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0E7C32-CD5C-77EE-C82F-664BA66332E9}"/>
              </a:ext>
            </a:extLst>
          </p:cNvPr>
          <p:cNvSpPr txBox="1"/>
          <p:nvPr/>
        </p:nvSpPr>
        <p:spPr>
          <a:xfrm>
            <a:off x="6248400" y="8206835"/>
            <a:ext cx="14316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și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ro-RO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pot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gener</a:t>
            </a:r>
            <a:r>
              <a:rPr lang="ro-RO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artefacte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auditive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în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scenarii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complexe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Aileron Bold" panose="00000800000000000000" pitchFamily="50" charset="0"/>
              </a:rPr>
              <a:t>.</a:t>
            </a:r>
            <a:endParaRPr lang="en-US" sz="3000" dirty="0">
              <a:solidFill>
                <a:schemeClr val="bg1">
                  <a:lumMod val="85000"/>
                </a:schemeClr>
              </a:solidFill>
              <a:latin typeface="Aileron Bold" panose="00000800000000000000" pitchFamily="50" charset="0"/>
            </a:endParaRPr>
          </a:p>
        </p:txBody>
      </p:sp>
      <p:sp>
        <p:nvSpPr>
          <p:cNvPr id="34" name="TextBox 36">
            <a:extLst>
              <a:ext uri="{FF2B5EF4-FFF2-40B4-BE49-F238E27FC236}">
                <a16:creationId xmlns:a16="http://schemas.microsoft.com/office/drawing/2014/main" id="{E1AE7F0D-A18E-7276-6558-9CFB055E73A6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4</a:t>
            </a:r>
          </a:p>
        </p:txBody>
      </p:sp>
      <p:sp>
        <p:nvSpPr>
          <p:cNvPr id="35" name="TextBox 25">
            <a:extLst>
              <a:ext uri="{FF2B5EF4-FFF2-40B4-BE49-F238E27FC236}">
                <a16:creationId xmlns:a16="http://schemas.microsoft.com/office/drawing/2014/main" id="{E5431DD9-1FA5-8C41-A01B-8D405428D290}"/>
              </a:ext>
            </a:extLst>
          </p:cNvPr>
          <p:cNvSpPr txBox="1"/>
          <p:nvPr/>
        </p:nvSpPr>
        <p:spPr>
          <a:xfrm>
            <a:off x="1286337" y="9542573"/>
            <a:ext cx="496206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DSP -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Digital Signal Processing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Nunito Sans Condensed Bol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3" grpId="0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10180282" y="6589984"/>
            <a:ext cx="3002906" cy="169483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219200" y="1848089"/>
            <a:ext cx="9302770" cy="2309350"/>
          </a:xfrm>
          <a:prstGeom prst="rect">
            <a:avLst/>
          </a:prstGeom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32"/>
              </a:lnSpc>
              <a:spcBef>
                <a:spcPct val="0"/>
              </a:spcBef>
            </a:pPr>
            <a:r>
              <a:rPr lang="en-US" sz="9817" b="1" spc="-539" dirty="0" err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Tranzitia</a:t>
            </a:r>
            <a:r>
              <a:rPr lang="en-US" sz="9817" b="1" spc="-539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9817" b="1" spc="-539" dirty="0" err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spre</a:t>
            </a:r>
            <a:endParaRPr lang="en-US" sz="9817" b="1" spc="-539" dirty="0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0" lvl="0" indent="0" algn="l">
              <a:lnSpc>
                <a:spcPts val="9032"/>
              </a:lnSpc>
              <a:spcBef>
                <a:spcPct val="0"/>
              </a:spcBef>
            </a:pPr>
            <a:r>
              <a:rPr lang="en-US" sz="9817" b="1" spc="-539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	Deep Learning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6D2F58E9-4EA9-B6BB-87EE-08DB52DD1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D8A2644-90D1-D372-80FC-978C1BA64D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3" name="TextBox 25">
            <a:extLst>
              <a:ext uri="{FF2B5EF4-FFF2-40B4-BE49-F238E27FC236}">
                <a16:creationId xmlns:a16="http://schemas.microsoft.com/office/drawing/2014/main" id="{D4A0F640-3FF6-C317-F2C3-DE88628D7D06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623EBA-C39D-2A93-800C-7C5342DCB84F}"/>
              </a:ext>
            </a:extLst>
          </p:cNvPr>
          <p:cNvSpPr txBox="1"/>
          <p:nvPr/>
        </p:nvSpPr>
        <p:spPr>
          <a:xfrm>
            <a:off x="1063050" y="5450547"/>
            <a:ext cx="149256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Modelele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convoluționale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(CNN)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și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recurente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(RNN) </a:t>
            </a:r>
          </a:p>
          <a:p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procesau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magnitudinea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spectrală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pentru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a genera "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măști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ideale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“.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Aileron Light" panose="00000400000000000000" pitchFamily="50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D9FDEC-4B4B-F4D4-A3BD-90CE3D3BD5C5}"/>
              </a:ext>
            </a:extLst>
          </p:cNvPr>
          <p:cNvSpPr txBox="1"/>
          <p:nvPr/>
        </p:nvSpPr>
        <p:spPr>
          <a:xfrm>
            <a:off x="1981200" y="7496559"/>
            <a:ext cx="1386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Separarea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se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făcea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doar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pe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magnitudine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,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folosind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faza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zgomotoasă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originală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			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pentru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reconstrucție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,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ceea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2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ce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ro-RO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limitează calitatea finală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Aileron Light" panose="00000400000000000000" pitchFamily="50" charset="0"/>
            </a:endParaRPr>
          </a:p>
        </p:txBody>
      </p:sp>
      <p:sp>
        <p:nvSpPr>
          <p:cNvPr id="39" name="TextBox 36">
            <a:extLst>
              <a:ext uri="{FF2B5EF4-FFF2-40B4-BE49-F238E27FC236}">
                <a16:creationId xmlns:a16="http://schemas.microsoft.com/office/drawing/2014/main" id="{74AEDAA3-25B7-C32B-DF55-F74BE2D2B189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5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B29DED5B-F8D8-E7A0-CACD-1A6EB166547B}"/>
              </a:ext>
            </a:extLst>
          </p:cNvPr>
          <p:cNvSpPr txBox="1"/>
          <p:nvPr/>
        </p:nvSpPr>
        <p:spPr>
          <a:xfrm>
            <a:off x="1286337" y="9542573"/>
            <a:ext cx="496206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</a:t>
            </a:r>
            <a:r>
              <a:rPr lang="ro-RO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CNN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 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Convolutional Neural Networks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Nunito Sans Condensed Bol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C4D65FA6-DB41-98B4-537B-0881DC0808E5}"/>
              </a:ext>
            </a:extLst>
          </p:cNvPr>
          <p:cNvSpPr txBox="1"/>
          <p:nvPr/>
        </p:nvSpPr>
        <p:spPr>
          <a:xfrm>
            <a:off x="5768370" y="9542572"/>
            <a:ext cx="496206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RNN -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Recurrent Neural Networks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Nunito Sans Condensed Bol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27057">
            <a:off x="7086600" y="7810500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089299">
            <a:off x="-4971582" y="-2527405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219200" y="1928646"/>
            <a:ext cx="14554200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032"/>
              </a:lnSpc>
              <a:spcBef>
                <a:spcPct val="0"/>
              </a:spcBef>
            </a:pPr>
            <a:r>
              <a:rPr lang="en-US" sz="9600" b="1" u="none" strike="noStrike" spc="-539" dirty="0" err="1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rPr>
              <a:t>Revolu</a:t>
            </a:r>
            <a:r>
              <a:rPr lang="ro-RO" sz="9600" b="1" u="none" strike="noStrike" spc="-539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rPr>
              <a:t>ția</a:t>
            </a:r>
            <a:r>
              <a:rPr lang="en-US" sz="9600" b="1" u="none" strike="noStrike" spc="-539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  <a:p>
            <a:pPr marL="0" lvl="0" indent="0" algn="l">
              <a:lnSpc>
                <a:spcPts val="9032"/>
              </a:lnSpc>
              <a:spcBef>
                <a:spcPct val="0"/>
              </a:spcBef>
            </a:pPr>
            <a:r>
              <a:rPr lang="en-US" sz="9600" b="1" spc="-539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rPr>
              <a:t>	</a:t>
            </a:r>
            <a:r>
              <a:rPr lang="en-US" sz="9600" b="1" u="none" strike="noStrike" spc="-539" dirty="0">
                <a:solidFill>
                  <a:schemeClr val="bg1"/>
                </a:solidFill>
                <a:latin typeface="Aileron Bold"/>
                <a:ea typeface="Aileron Bold"/>
                <a:cs typeface="Aileron Bold"/>
                <a:sym typeface="Aileron Bold"/>
              </a:rPr>
              <a:t>TIME-DOMAIN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84A8A5AA-B5F9-15FA-FA4E-BCA64500C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E74DCF0-75C4-6D56-4CB7-B06E40B378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287EFBDA-CCB1-B8D7-0B9B-038064B9A8C6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B9BA98-932E-4053-BDC5-D2DC96AFFA03}"/>
              </a:ext>
            </a:extLst>
          </p:cNvPr>
          <p:cNvSpPr txBox="1"/>
          <p:nvPr/>
        </p:nvSpPr>
        <p:spPr>
          <a:xfrm>
            <a:off x="4463407" y="4866501"/>
            <a:ext cx="149256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Metode Timp–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Frecven</a:t>
            </a:r>
            <a:r>
              <a:rPr lang="ro-RO" sz="3000" dirty="0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ță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   vs   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TasNet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   vs   Conv-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Aileron Bold" panose="00000800000000000000" pitchFamily="50" charset="0"/>
              </a:rPr>
              <a:t>TasNet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Aileron Bold" panose="00000800000000000000" pitchFamily="50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0DE20F-244F-8D2A-0D07-736EF6BBA852}"/>
              </a:ext>
            </a:extLst>
          </p:cNvPr>
          <p:cNvSpPr txBox="1"/>
          <p:nvPr/>
        </p:nvSpPr>
        <p:spPr>
          <a:xfrm>
            <a:off x="1183105" y="6708403"/>
            <a:ext cx="159295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	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Arhitectura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TasNet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a </a:t>
            </a:r>
            <a:r>
              <a:rPr lang="ro-RO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redus dependența de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Transformata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Fourier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mutând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procesarea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ro-RO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				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direct pe forma de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undă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în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domeniul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timpului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printr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-un encoder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convoluțional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 1D </a:t>
            </a:r>
          </a:p>
        </p:txBody>
      </p:sp>
      <p:sp>
        <p:nvSpPr>
          <p:cNvPr id="34" name="TextBox 36">
            <a:extLst>
              <a:ext uri="{FF2B5EF4-FFF2-40B4-BE49-F238E27FC236}">
                <a16:creationId xmlns:a16="http://schemas.microsoft.com/office/drawing/2014/main" id="{00A27EE0-57A2-7696-4612-9B400ADC52EA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85568">
            <a:off x="5292230" y="7294211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999090" y="-3162912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275451" y="1811337"/>
            <a:ext cx="13889876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9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Evolu</a:t>
            </a:r>
            <a:r>
              <a:rPr lang="ro-RO" sz="9600" dirty="0">
                <a:solidFill>
                  <a:schemeClr val="bg1"/>
                </a:solidFill>
                <a:latin typeface="Aileron Bold" panose="00000800000000000000" pitchFamily="50" charset="0"/>
              </a:rPr>
              <a:t>ția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	CONV-TASNET</a:t>
            </a:r>
            <a:endParaRPr lang="en-US" sz="9817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E2B867C7-4D51-8BF3-8D1B-1533B221467B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7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B3B991-8D4D-FA95-0A37-26C7546AF7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38A6A98-8419-8467-343E-F48991716C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43" name="TextBox 25">
            <a:extLst>
              <a:ext uri="{FF2B5EF4-FFF2-40B4-BE49-F238E27FC236}">
                <a16:creationId xmlns:a16="http://schemas.microsoft.com/office/drawing/2014/main" id="{EE7C87F6-3D73-B224-9401-F89F75658FD3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B755D3-1652-3501-8197-B7095A138EE2}"/>
              </a:ext>
            </a:extLst>
          </p:cNvPr>
          <p:cNvSpPr txBox="1"/>
          <p:nvPr/>
        </p:nvSpPr>
        <p:spPr>
          <a:xfrm>
            <a:off x="2286000" y="4877426"/>
            <a:ext cx="103225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Limitare</a:t>
            </a:r>
            <a:r>
              <a:rPr lang="en-US" sz="3000" dirty="0">
                <a:solidFill>
                  <a:schemeClr val="bg1"/>
                </a:solidFill>
                <a:latin typeface="Aileron Bold" panose="00000800000000000000" pitchFamily="50" charset="0"/>
              </a:rPr>
              <a:t> L</a:t>
            </a:r>
            <a:r>
              <a:rPr lang="ro-RO" sz="3000" dirty="0">
                <a:solidFill>
                  <a:schemeClr val="bg1"/>
                </a:solidFill>
                <a:latin typeface="Aileron Bold" panose="00000800000000000000" pitchFamily="50" charset="0"/>
              </a:rPr>
              <a:t>ST</a:t>
            </a:r>
            <a:r>
              <a:rPr lang="en-US" sz="3000" dirty="0">
                <a:solidFill>
                  <a:schemeClr val="bg1"/>
                </a:solidFill>
                <a:latin typeface="Aileron Bold" panose="00000800000000000000" pitchFamily="50" charset="0"/>
              </a:rPr>
              <a:t>M:  </a:t>
            </a:r>
            <a:endParaRPr lang="en-US" sz="3000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9B13F4-B6EE-28C0-59C5-F16F4DA261CC}"/>
              </a:ext>
            </a:extLst>
          </p:cNvPr>
          <p:cNvSpPr txBox="1"/>
          <p:nvPr/>
        </p:nvSpPr>
        <p:spPr>
          <a:xfrm>
            <a:off x="6858000" y="54483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ADSADAS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313C0B59-667F-9F93-FA4D-D165BC943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6800" y="5625587"/>
                <a:ext cx="13216695" cy="5318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TasNet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folosea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memorie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 L</a:t>
                </a:r>
                <a:r>
                  <a:rPr lang="ro-RO" altLang="en-US" sz="2800" dirty="0">
                    <a:solidFill>
                      <a:schemeClr val="bg1">
                        <a:lumMod val="85000"/>
                      </a:schemeClr>
                    </a:solidFill>
                    <a:latin typeface="Aileron Light" panose="00000400000000000000" pitchFamily="50" charset="0"/>
                  </a:rPr>
                  <a:t>ST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M, care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ceda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 la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secvențe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uriașe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en-US" sz="28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3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en-US" sz="28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kumimoji="0" lang="en-US" altLang="en-US" sz="28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accent3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kumimoji="0" lang="en-US" altLang="en-US" sz="2800" b="1" i="0" u="none" strike="noStrike" cap="none" normalizeH="0" baseline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latin typeface="Aileron Light" panose="00000400000000000000" pitchFamily="50" charset="0"/>
                  </a:rPr>
                  <a:t> 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cadre </a:t>
                </a:r>
                <a:r>
                  <a:rPr kumimoji="0" lang="en-US" altLang="en-US" sz="2800" b="0" i="0" u="none" strike="noStrike" cap="none" normalizeH="0" baseline="0" dirty="0" err="1">
                    <a:ln>
                      <a:noFill/>
                    </a:ln>
                    <a:solidFill>
                      <a:schemeClr val="bg1">
                        <a:lumMod val="85000"/>
                      </a:schemeClr>
                    </a:solidFill>
                    <a:effectLst/>
                    <a:latin typeface="Aileron Light" panose="00000400000000000000" pitchFamily="50" charset="0"/>
                  </a:rPr>
                  <a:t>temporale</a:t>
                </a:r>
                <a:endParaRPr kumimoji="0" lang="en-US" altLang="en-US" sz="2800" b="0" i="0" u="none" strike="noStrike" cap="none" normalizeH="0" baseline="0" dirty="0">
                  <a:ln>
                    <a:noFill/>
                  </a:ln>
                  <a:solidFill>
                    <a:schemeClr val="bg1">
                      <a:lumMod val="85000"/>
                    </a:schemeClr>
                  </a:solidFill>
                  <a:effectLst/>
                  <a:latin typeface="Aileron Light" panose="00000400000000000000" pitchFamily="50" charset="0"/>
                </a:endParaRPr>
              </a:p>
            </p:txBody>
          </p:sp>
        </mc:Choice>
        <mc:Fallback xmlns="">
          <p:sp>
            <p:nvSpPr>
              <p:cNvPr id="49" name="Rectangle 3">
                <a:extLst>
                  <a:ext uri="{FF2B5EF4-FFF2-40B4-BE49-F238E27FC236}">
                    <a16:creationId xmlns:a16="http://schemas.microsoft.com/office/drawing/2014/main" id="{313C0B59-667F-9F93-FA4D-D165BC943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800" y="5625587"/>
                <a:ext cx="13216695" cy="531812"/>
              </a:xfrm>
              <a:prstGeom prst="rect">
                <a:avLst/>
              </a:prstGeom>
              <a:blipFill>
                <a:blip r:embed="rId6"/>
                <a:stretch>
                  <a:fillRect l="-923" t="-10345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A9210337-1B34-2F8E-F81E-6E3712B17754}"/>
              </a:ext>
            </a:extLst>
          </p:cNvPr>
          <p:cNvSpPr txBox="1"/>
          <p:nvPr/>
        </p:nvSpPr>
        <p:spPr>
          <a:xfrm>
            <a:off x="2107420" y="6756195"/>
            <a:ext cx="144507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Conv-</a:t>
            </a: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TasNet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a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înlocuit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complet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blocurile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recurente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cu TCN, </a:t>
            </a:r>
          </a:p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folosind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convoluții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dilatate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pentru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un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câmp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receptiv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exponențial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74D51E76-A985-9CF7-BDD6-ADFC719662B4}"/>
              </a:ext>
            </a:extLst>
          </p:cNvPr>
          <p:cNvSpPr txBox="1"/>
          <p:nvPr/>
        </p:nvSpPr>
        <p:spPr>
          <a:xfrm>
            <a:off x="5739357" y="9484582"/>
            <a:ext cx="496206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TCN -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Temporal Convolutional Networks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Nunito Sans Condensed Bol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52" name="TextBox 25">
            <a:extLst>
              <a:ext uri="{FF2B5EF4-FFF2-40B4-BE49-F238E27FC236}">
                <a16:creationId xmlns:a16="http://schemas.microsoft.com/office/drawing/2014/main" id="{FEC197F6-313B-E0A2-8F31-268E77920FB1}"/>
              </a:ext>
            </a:extLst>
          </p:cNvPr>
          <p:cNvSpPr txBox="1"/>
          <p:nvPr/>
        </p:nvSpPr>
        <p:spPr>
          <a:xfrm>
            <a:off x="1275451" y="9484583"/>
            <a:ext cx="4962063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sz="2000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LSTM -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</a:rPr>
              <a:t>Long Short-Term Memory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Nunito Sans Condensed Bold" panose="020B0604020202020204" charset="0"/>
              <a:ea typeface="Nunito Sans Condensed Bold"/>
              <a:cs typeface="Nunito Sans Condensed Bold"/>
              <a:sym typeface="Nunito Sans Condensed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F41C6-1833-80A4-0D29-8010FF5C4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7004DE-0803-AC3A-379D-F1EC1F015D68}"/>
              </a:ext>
            </a:extLst>
          </p:cNvPr>
          <p:cNvSpPr/>
          <p:nvPr/>
        </p:nvSpPr>
        <p:spPr>
          <a:xfrm rot="1555187">
            <a:off x="5779654" y="6849064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E97B0A-98BB-D518-D845-3A330B9375EA}"/>
              </a:ext>
            </a:extLst>
          </p:cNvPr>
          <p:cNvSpPr/>
          <p:nvPr/>
        </p:nvSpPr>
        <p:spPr>
          <a:xfrm rot="493387">
            <a:off x="-5744273" y="-1643601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27ACFC7-AE2D-565E-00A9-9715AFF4096E}"/>
              </a:ext>
            </a:extLst>
          </p:cNvPr>
          <p:cNvSpPr txBox="1"/>
          <p:nvPr/>
        </p:nvSpPr>
        <p:spPr>
          <a:xfrm>
            <a:off x="1491033" y="881914"/>
            <a:ext cx="4048528" cy="56136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5F04490-0629-98EB-BE85-9A9718654B83}"/>
              </a:ext>
            </a:extLst>
          </p:cNvPr>
          <p:cNvSpPr txBox="1"/>
          <p:nvPr/>
        </p:nvSpPr>
        <p:spPr>
          <a:xfrm>
            <a:off x="838200" y="1778441"/>
            <a:ext cx="8442662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32"/>
              </a:lnSpc>
            </a:pPr>
            <a:r>
              <a:rPr lang="en-US" sz="9600" b="1" spc="-539" dirty="0" err="1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Problema</a:t>
            </a:r>
            <a:r>
              <a:rPr lang="en-US" sz="9600" b="1" spc="-539" dirty="0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 </a:t>
            </a:r>
          </a:p>
          <a:p>
            <a:pPr>
              <a:lnSpc>
                <a:spcPts val="9032"/>
              </a:lnSpc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	“</a:t>
            </a:r>
            <a:r>
              <a:rPr lang="en-US" sz="9600" b="1" spc="-539" dirty="0">
                <a:solidFill>
                  <a:schemeClr val="bg1"/>
                </a:solidFill>
                <a:latin typeface="Aileron Bold" panose="00000800000000000000" pitchFamily="50" charset="0"/>
                <a:ea typeface="Aileron Bold"/>
                <a:cs typeface="Aileron Bold"/>
                <a:sym typeface="Aileron Bold"/>
              </a:rPr>
              <a:t>Late Split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"</a:t>
            </a:r>
            <a:endParaRPr lang="en-US" sz="9600" b="1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11A61B45-2617-7BEE-9E37-3BEF386C1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B23DBB7-369B-E677-52A6-E430E2E8058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52" name="TextBox 25">
            <a:extLst>
              <a:ext uri="{FF2B5EF4-FFF2-40B4-BE49-F238E27FC236}">
                <a16:creationId xmlns:a16="http://schemas.microsoft.com/office/drawing/2014/main" id="{8C5EE47A-75FB-944C-4166-493C2E986DEF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436BDF-5234-A5FD-C511-80D598BB4107}"/>
              </a:ext>
            </a:extLst>
          </p:cNvPr>
          <p:cNvSpPr txBox="1"/>
          <p:nvPr/>
        </p:nvSpPr>
        <p:spPr>
          <a:xfrm>
            <a:off x="3374053" y="6190282"/>
            <a:ext cx="128112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Toate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informațiile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vorbitorilor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sunt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menținute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într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-o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singură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secvență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latentă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mixtă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pe tot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parcursul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encoder-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ului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și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procesării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B25F8E-A7BC-4300-64D7-51FD3E10AB54}"/>
              </a:ext>
            </a:extLst>
          </p:cNvPr>
          <p:cNvSpPr txBox="1"/>
          <p:nvPr/>
        </p:nvSpPr>
        <p:spPr>
          <a:xfrm>
            <a:off x="1575344" y="4797518"/>
            <a:ext cx="15396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În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modelele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convenționale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(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inclusiv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Dual-Path / SepFormer),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extragerea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caracteristicilor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și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separarea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efectivă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vocilor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se face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abia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în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ultima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etapă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a </a:t>
            </a:r>
            <a:r>
              <a:rPr lang="en-US" sz="30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rețelei</a:t>
            </a:r>
            <a:r>
              <a:rPr lang="en-US" sz="30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234D9C-6CC0-346C-3E12-EA8B5BD93713}"/>
              </a:ext>
            </a:extLst>
          </p:cNvPr>
          <p:cNvSpPr txBox="1"/>
          <p:nvPr/>
        </p:nvSpPr>
        <p:spPr>
          <a:xfrm>
            <a:off x="1063050" y="8094871"/>
            <a:ext cx="15737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Efectul</a:t>
            </a:r>
            <a:r>
              <a:rPr lang="en-US" sz="3200" b="1" dirty="0">
                <a:solidFill>
                  <a:schemeClr val="bg1"/>
                </a:solidFill>
                <a:latin typeface="Aileron Bold" panose="00000800000000000000" pitchFamily="50" charset="0"/>
              </a:rPr>
              <a:t>: </a:t>
            </a:r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800FD76B-C688-795A-E8DD-5254B835F20F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E6DC2-71D6-3819-CD90-083346054625}"/>
              </a:ext>
            </a:extLst>
          </p:cNvPr>
          <p:cNvSpPr txBox="1"/>
          <p:nvPr/>
        </p:nvSpPr>
        <p:spPr>
          <a:xfrm>
            <a:off x="1539300" y="8879813"/>
            <a:ext cx="1638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Se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creează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o </a:t>
            </a:r>
            <a:r>
              <a:rPr lang="en-US" sz="2800" b="1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limitare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,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rețeaua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fiind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forțată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să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desp</a:t>
            </a:r>
            <a:r>
              <a:rPr lang="ro-RO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ă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r</a:t>
            </a:r>
            <a:r>
              <a:rPr lang="ro-RO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ț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easc</a:t>
            </a:r>
            <a:r>
              <a:rPr lang="ro-RO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ă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un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amestec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 complex exact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înainte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 de </a:t>
            </a:r>
            <a:r>
              <a:rPr lang="en-US" sz="2800" dirty="0" err="1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ieșire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492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27FA9-43D7-767C-6123-0D5742BA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8689E6-4D19-44E1-4255-84BCE95F7E42}"/>
              </a:ext>
            </a:extLst>
          </p:cNvPr>
          <p:cNvSpPr/>
          <p:nvPr/>
        </p:nvSpPr>
        <p:spPr>
          <a:xfrm rot="11107829">
            <a:off x="4120557" y="7294278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217EF0-5C20-1C7B-12E6-449E77692722}"/>
              </a:ext>
            </a:extLst>
          </p:cNvPr>
          <p:cNvSpPr/>
          <p:nvPr/>
        </p:nvSpPr>
        <p:spPr>
          <a:xfrm rot="12310877">
            <a:off x="-4686301" y="-3862248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AB523C5-16FE-4A67-E31A-E84FC198739B}"/>
              </a:ext>
            </a:extLst>
          </p:cNvPr>
          <p:cNvSpPr txBox="1"/>
          <p:nvPr/>
        </p:nvSpPr>
        <p:spPr>
          <a:xfrm>
            <a:off x="1275451" y="1811337"/>
            <a:ext cx="13889876" cy="2335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9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Performanța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	</a:t>
            </a:r>
            <a:r>
              <a:rPr lang="en-US" sz="9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în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9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Scenarii</a:t>
            </a:r>
            <a:r>
              <a:rPr lang="en-US" sz="9600" dirty="0">
                <a:solidFill>
                  <a:schemeClr val="bg1"/>
                </a:solidFill>
                <a:latin typeface="Aileron Bold" panose="00000800000000000000" pitchFamily="50" charset="0"/>
              </a:rPr>
              <a:t> Reale</a:t>
            </a:r>
            <a:endParaRPr lang="en-US" sz="9817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94838BBA-A244-47D0-0CF9-3D7A1447D437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9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D4604724-54F1-8B0A-377A-23E379DBC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2520BD0-F37E-B0A1-79C1-EA454B2847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43" name="TextBox 25">
            <a:extLst>
              <a:ext uri="{FF2B5EF4-FFF2-40B4-BE49-F238E27FC236}">
                <a16:creationId xmlns:a16="http://schemas.microsoft.com/office/drawing/2014/main" id="{D7DF1463-F8BF-8038-2D1B-3B64F5171EE9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56927C-FD68-3461-9D27-06F2F3D15FC6}"/>
              </a:ext>
            </a:extLst>
          </p:cNvPr>
          <p:cNvSpPr txBox="1"/>
          <p:nvPr/>
        </p:nvSpPr>
        <p:spPr>
          <a:xfrm>
            <a:off x="6858000" y="54483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ADSADAS</a:t>
            </a: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CF0FAD62-44D0-1BA1-2E9E-B4A39F488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465" y="5538270"/>
            <a:ext cx="132408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Rețelele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bazate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pe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spectrograme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devin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instabile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în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condiții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de 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suprapunere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redusă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a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vocilor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din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cauza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încercărilor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eșuate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de a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elimina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ecoul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ileron Light" panose="00000400000000000000" pitchFamily="50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A7DA71-7934-3060-7FFE-1E20C376E99C}"/>
              </a:ext>
            </a:extLst>
          </p:cNvPr>
          <p:cNvSpPr txBox="1"/>
          <p:nvPr/>
        </p:nvSpPr>
        <p:spPr>
          <a:xfrm>
            <a:off x="1063050" y="7185589"/>
            <a:ext cx="16190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	</a:t>
            </a:r>
            <a:r>
              <a:rPr lang="ro-RO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Modelul urmărește separarea vorbirii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și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reducerea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zgomotului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,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evitând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distorsionarea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inutilă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a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vocii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când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nu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este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necesară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o </a:t>
            </a:r>
            <a:r>
              <a:rPr lang="ro-RO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reducere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 </a:t>
            </a:r>
            <a:r>
              <a:rPr lang="ro-RO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puternic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ă a </a:t>
            </a:r>
            <a:r>
              <a:rPr lang="en-US" sz="2800" dirty="0" err="1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ecoulu</a:t>
            </a:r>
            <a:r>
              <a:rPr lang="ro-RO" sz="2800" dirty="0">
                <a:solidFill>
                  <a:schemeClr val="bg1">
                    <a:lumMod val="95000"/>
                  </a:schemeClr>
                </a:solidFill>
                <a:latin typeface="Aileron Light" panose="00000400000000000000" pitchFamily="50" charset="0"/>
              </a:rPr>
              <a:t>i.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Aileron Light" panose="00000400000000000000" pitchFamily="50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F6AAB3-3200-70FE-E11D-B1ACFE456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607" y="3957414"/>
            <a:ext cx="132408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ileron Bold" panose="00000800000000000000" pitchFamily="50" charset="0"/>
              </a:rPr>
              <a:t>Zgomot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ileron Bold" panose="00000800000000000000" pitchFamily="50" charset="0"/>
              </a:rPr>
              <a:t> +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ileron Bold" panose="00000800000000000000" pitchFamily="50" charset="0"/>
              </a:rPr>
              <a:t>Ecou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ileron Bold" panose="00000800000000000000" pitchFamily="50" charset="0"/>
            </a:endParaRP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D00BABE5-F606-6844-5D4B-F8E513ADACEE}"/>
              </a:ext>
            </a:extLst>
          </p:cNvPr>
          <p:cNvSpPr/>
          <p:nvPr/>
        </p:nvSpPr>
        <p:spPr>
          <a:xfrm rot="12310877">
            <a:off x="-4642444" y="-3881298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83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84749">
            <a:off x="6839516" y="5143500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5329" y="-3437936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AutoShape 4"/>
          <p:cNvSpPr/>
          <p:nvPr/>
        </p:nvSpPr>
        <p:spPr>
          <a:xfrm>
            <a:off x="381000" y="3771900"/>
            <a:ext cx="4876800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539300" y="1320561"/>
            <a:ext cx="19098934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Arhitectura</a:t>
            </a:r>
            <a:r>
              <a:rPr lang="en-US" sz="7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600" dirty="0">
                <a:solidFill>
                  <a:schemeClr val="bg1"/>
                </a:solidFill>
                <a:latin typeface="Aileron Bold" panose="00000800000000000000" pitchFamily="50" charset="0"/>
              </a:rPr>
              <a:t>	</a:t>
            </a:r>
            <a:r>
              <a:rPr lang="en-US" sz="76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Platformei</a:t>
            </a:r>
            <a:r>
              <a:rPr lang="en-US" sz="7600" dirty="0">
                <a:solidFill>
                  <a:schemeClr val="bg1"/>
                </a:solidFill>
                <a:latin typeface="Aileron Bold" panose="00000800000000000000" pitchFamily="50" charset="0"/>
              </a:rPr>
              <a:t> Software</a:t>
            </a:r>
            <a:endParaRPr lang="en-US" sz="7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33" name="TextBox 36">
            <a:extLst>
              <a:ext uri="{FF2B5EF4-FFF2-40B4-BE49-F238E27FC236}">
                <a16:creationId xmlns:a16="http://schemas.microsoft.com/office/drawing/2014/main" id="{205D6BF3-7E59-A1D7-F1EC-B6CBF6BEE977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10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8FD95DD-4CD0-494F-696C-54A2ABDDD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8921EC8-49D2-778D-757B-056FF845696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6" name="TextBox 25">
            <a:extLst>
              <a:ext uri="{FF2B5EF4-FFF2-40B4-BE49-F238E27FC236}">
                <a16:creationId xmlns:a16="http://schemas.microsoft.com/office/drawing/2014/main" id="{D95187F5-50D4-9572-8DFE-C14E4B942DAA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12947E-5E14-8E6C-4346-775326A62612}"/>
              </a:ext>
            </a:extLst>
          </p:cNvPr>
          <p:cNvSpPr txBox="1"/>
          <p:nvPr/>
        </p:nvSpPr>
        <p:spPr>
          <a:xfrm>
            <a:off x="586800" y="4196049"/>
            <a:ext cx="16724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Platforma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este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construită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pe o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arhitectură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web,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separând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interfața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utilizatorului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logica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avansată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procesare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DSP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și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inferență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neurală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.</a:t>
            </a:r>
          </a:p>
        </p:txBody>
      </p:sp>
      <p:sp>
        <p:nvSpPr>
          <p:cNvPr id="38" name="AutoShape 4">
            <a:extLst>
              <a:ext uri="{FF2B5EF4-FFF2-40B4-BE49-F238E27FC236}">
                <a16:creationId xmlns:a16="http://schemas.microsoft.com/office/drawing/2014/main" id="{571F315F-0CFF-58C8-AE91-540C26DBA652}"/>
              </a:ext>
            </a:extLst>
          </p:cNvPr>
          <p:cNvSpPr/>
          <p:nvPr/>
        </p:nvSpPr>
        <p:spPr>
          <a:xfrm>
            <a:off x="6255327" y="1198284"/>
            <a:ext cx="4876800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1CB1F1A-7D70-A64B-EE28-5D1A0E31E1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930"/>
          <a:stretch>
            <a:fillRect/>
          </a:stretch>
        </p:blipFill>
        <p:spPr>
          <a:xfrm>
            <a:off x="786093" y="4848549"/>
            <a:ext cx="7907634" cy="423670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E30B6F3-C4C1-EF1E-4EA3-4D3DE4650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4848549"/>
            <a:ext cx="8653332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84749">
            <a:off x="6839516" y="5143500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5329" y="-3437936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AB91B67F-35B8-59DB-B633-0D784EDB659A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C7CC74E5-6B2C-B65A-D219-1F60FAB57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A52A88-1AF3-EBD3-45CE-8FF1FE066E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1" name="TextBox 25">
            <a:extLst>
              <a:ext uri="{FF2B5EF4-FFF2-40B4-BE49-F238E27FC236}">
                <a16:creationId xmlns:a16="http://schemas.microsoft.com/office/drawing/2014/main" id="{333FF910-4A9C-00C2-413E-75812653D024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46501B0-5422-D2A0-0DA4-0C7A0898ECFC}"/>
              </a:ext>
            </a:extLst>
          </p:cNvPr>
          <p:cNvSpPr txBox="1"/>
          <p:nvPr/>
        </p:nvSpPr>
        <p:spPr>
          <a:xfrm>
            <a:off x="1539300" y="1597152"/>
            <a:ext cx="19098934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Modele</a:t>
            </a:r>
            <a:r>
              <a:rPr lang="en-US" sz="8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600" b="1" dirty="0">
                <a:solidFill>
                  <a:schemeClr val="bg1"/>
                </a:solidFill>
                <a:latin typeface="Aileron Bold" panose="00000800000000000000" pitchFamily="50" charset="0"/>
              </a:rPr>
              <a:t>SepFormer</a:t>
            </a:r>
            <a:endParaRPr lang="en-US" sz="8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809F926A-21B2-23F0-91B3-0566EC791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73" y="3103765"/>
            <a:ext cx="1324086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Integrări</a:t>
            </a:r>
            <a:r>
              <a:rPr 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disponibile</a:t>
            </a:r>
            <a:r>
              <a:rPr 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în</a:t>
            </a:r>
            <a:r>
              <a:rPr 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platformă</a:t>
            </a:r>
            <a:r>
              <a:rPr 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ileron Bold" panose="00000800000000000000" pitchFamily="50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F3A785-9A03-F75F-8C0C-58C2D7669FE7}"/>
              </a:ext>
            </a:extLst>
          </p:cNvPr>
          <p:cNvSpPr txBox="1"/>
          <p:nvPr/>
        </p:nvSpPr>
        <p:spPr>
          <a:xfrm>
            <a:off x="837034" y="3717826"/>
            <a:ext cx="1409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>
                    <a:lumMod val="85000"/>
                  </a:schemeClr>
                </a:solidFill>
                <a:latin typeface="Aileron Light" panose="00000400000000000000" pitchFamily="50" charset="0"/>
              </a:rPr>
              <a:t>Aplicația permite comutarea dinamică între configurații acustice specializate, antrenate pentru diferite scenarii reale</a:t>
            </a:r>
            <a:endParaRPr lang="en-US" sz="2200" dirty="0">
              <a:solidFill>
                <a:schemeClr val="bg1">
                  <a:lumMod val="85000"/>
                </a:schemeClr>
              </a:solidFill>
              <a:latin typeface="Aileron Light" panose="000004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224BD7-C15B-A035-1F13-C2AB628D871C}"/>
              </a:ext>
            </a:extLst>
          </p:cNvPr>
          <p:cNvSpPr txBox="1"/>
          <p:nvPr/>
        </p:nvSpPr>
        <p:spPr>
          <a:xfrm>
            <a:off x="621437" y="5387596"/>
            <a:ext cx="6222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ileron Bold" panose="00000800000000000000" pitchFamily="50" charset="0"/>
              </a:rPr>
              <a:t>WHAMR:</a:t>
            </a:r>
            <a:r>
              <a:rPr lang="en-US" dirty="0">
                <a:solidFill>
                  <a:schemeClr val="accent6"/>
                </a:solidFill>
                <a:latin typeface="Aileron Bold" panose="00000800000000000000" pitchFamily="50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Model robust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zgomot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urban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și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ecou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intens</a:t>
            </a:r>
            <a:endParaRPr lang="en-US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3D04DD-C6F7-6898-372E-857B1B25B8BB}"/>
              </a:ext>
            </a:extLst>
          </p:cNvPr>
          <p:cNvSpPr txBox="1"/>
          <p:nvPr/>
        </p:nvSpPr>
        <p:spPr>
          <a:xfrm>
            <a:off x="621437" y="5844871"/>
            <a:ext cx="885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ileron Bold" panose="00000800000000000000" pitchFamily="50" charset="0"/>
              </a:rPr>
              <a:t>Libri3Mix:</a:t>
            </a:r>
            <a:r>
              <a:rPr lang="en-US" dirty="0">
                <a:solidFill>
                  <a:schemeClr val="accent6"/>
                </a:solidFill>
                <a:latin typeface="Aileron Bold" panose="000008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Dedicat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separării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complexe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tri-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vocale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(</a:t>
            </a:r>
            <a:r>
              <a:rPr lang="ro-RO" dirty="0">
                <a:solidFill>
                  <a:schemeClr val="bg1"/>
                </a:solidFill>
                <a:latin typeface="Aileron Light" panose="00000400000000000000" pitchFamily="50" charset="0"/>
              </a:rPr>
              <a:t>separă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amestecul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3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fluxuri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distincte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4BD227-6B69-7B69-C741-007708BDD9A6}"/>
              </a:ext>
            </a:extLst>
          </p:cNvPr>
          <p:cNvSpPr txBox="1"/>
          <p:nvPr/>
        </p:nvSpPr>
        <p:spPr>
          <a:xfrm>
            <a:off x="621437" y="6302146"/>
            <a:ext cx="873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Aileron Bold" panose="00000800000000000000" pitchFamily="50" charset="0"/>
              </a:rPr>
              <a:t>WSJ02Mix</a:t>
            </a:r>
            <a:r>
              <a:rPr lang="en-US" b="1" dirty="0">
                <a:solidFill>
                  <a:schemeClr val="accent6"/>
                </a:solidFill>
                <a:latin typeface="Aileron Bold" panose="00000800000000000000" pitchFamily="50" charset="0"/>
              </a:rPr>
              <a:t>:</a:t>
            </a:r>
            <a:r>
              <a:rPr lang="en-US" dirty="0">
                <a:solidFill>
                  <a:schemeClr val="accent6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Calitate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de studio,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optimizat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pentru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fidelitatea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timbrului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fără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ro-RO" dirty="0">
                <a:solidFill>
                  <a:schemeClr val="bg1"/>
                </a:solidFill>
                <a:latin typeface="Aileron Light" panose="00000400000000000000" pitchFamily="50" charset="0"/>
              </a:rPr>
              <a:t>zgomot extern</a:t>
            </a:r>
            <a:endParaRPr lang="en-US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D4BEDC-9A11-6C8F-6BDC-0CF171AC77CB}"/>
              </a:ext>
            </a:extLst>
          </p:cNvPr>
          <p:cNvSpPr txBox="1"/>
          <p:nvPr/>
        </p:nvSpPr>
        <p:spPr>
          <a:xfrm>
            <a:off x="621437" y="6755957"/>
            <a:ext cx="6192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latin typeface="Aileron Bold" panose="00000800000000000000" pitchFamily="50" charset="0"/>
              </a:rPr>
              <a:t>WHAM:</a:t>
            </a:r>
            <a:r>
              <a:rPr lang="en-US" dirty="0">
                <a:solidFill>
                  <a:schemeClr val="accent6"/>
                </a:solidFill>
                <a:latin typeface="Aileron Bold" panose="000008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Axat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strict pe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suprimarea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zgomotelor</a:t>
            </a:r>
            <a:r>
              <a:rPr lang="en-US" dirty="0">
                <a:solidFill>
                  <a:schemeClr val="bg1"/>
                </a:solidFill>
                <a:latin typeface="Aileron Light" panose="00000400000000000000" pitchFamily="50" charset="0"/>
              </a:rPr>
              <a:t> non-</a:t>
            </a:r>
            <a:r>
              <a:rPr lang="en-US" dirty="0" err="1">
                <a:solidFill>
                  <a:schemeClr val="bg1"/>
                </a:solidFill>
                <a:latin typeface="Aileron Light" panose="00000400000000000000" pitchFamily="50" charset="0"/>
              </a:rPr>
              <a:t>staționare</a:t>
            </a:r>
            <a:endParaRPr lang="en-US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ED3F0F-3AF5-9F4B-ED46-7607095080D6}"/>
              </a:ext>
            </a:extLst>
          </p:cNvPr>
          <p:cNvSpPr txBox="1"/>
          <p:nvPr/>
        </p:nvSpPr>
        <p:spPr>
          <a:xfrm>
            <a:off x="621436" y="7235224"/>
            <a:ext cx="5796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accent6"/>
                </a:solidFill>
                <a:latin typeface="Aileron Bold" panose="00000800000000000000" pitchFamily="50" charset="0"/>
              </a:rPr>
              <a:t>Libri2Mix:</a:t>
            </a:r>
            <a:r>
              <a:rPr lang="it-IT" dirty="0">
                <a:solidFill>
                  <a:schemeClr val="accent6"/>
                </a:solidFill>
                <a:latin typeface="Aileron Bold" panose="00000800000000000000" pitchFamily="50" charset="0"/>
              </a:rPr>
              <a:t> </a:t>
            </a:r>
            <a:r>
              <a:rPr lang="it-IT" dirty="0">
                <a:solidFill>
                  <a:schemeClr val="bg1"/>
                </a:solidFill>
                <a:latin typeface="Aileron Light" panose="00000400000000000000" pitchFamily="50" charset="0"/>
              </a:rPr>
              <a:t>Utilizat pentru voci narative și discursuri lungi</a:t>
            </a:r>
            <a:endParaRPr lang="en-US" dirty="0">
              <a:solidFill>
                <a:schemeClr val="bg1"/>
              </a:solidFill>
              <a:latin typeface="Aileron Bold" panose="00000800000000000000" pitchFamily="50" charset="0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C11B55E-D20F-6A85-7433-A677A214A4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6" t="2053"/>
          <a:stretch>
            <a:fillRect/>
          </a:stretch>
        </p:blipFill>
        <p:spPr>
          <a:xfrm>
            <a:off x="11125200" y="4438126"/>
            <a:ext cx="6083531" cy="48890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73DF35-E2DA-7018-76A6-A25DC1C1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534203-D724-50D0-C12D-7F78E1C72161}"/>
              </a:ext>
            </a:extLst>
          </p:cNvPr>
          <p:cNvSpPr/>
          <p:nvPr/>
        </p:nvSpPr>
        <p:spPr>
          <a:xfrm rot="384749">
            <a:off x="6839516" y="5143500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40B06DB-B4A0-4DEF-9DC2-D5774811907D}"/>
              </a:ext>
            </a:extLst>
          </p:cNvPr>
          <p:cNvSpPr/>
          <p:nvPr/>
        </p:nvSpPr>
        <p:spPr>
          <a:xfrm>
            <a:off x="-585329" y="-3437936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7A43EEC4-DB5B-C557-F556-480D02384C3E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2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6882FB57-5A8D-C9C6-38B0-836F87F72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5443F13-30AA-8C16-950B-C10A442B84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1" name="TextBox 25">
            <a:extLst>
              <a:ext uri="{FF2B5EF4-FFF2-40B4-BE49-F238E27FC236}">
                <a16:creationId xmlns:a16="http://schemas.microsoft.com/office/drawing/2014/main" id="{97C87656-AD68-7BE9-D7DD-1187E5636EFE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7DDE93D0-98C0-9C5C-C1B4-D2B3672ABB58}"/>
              </a:ext>
            </a:extLst>
          </p:cNvPr>
          <p:cNvSpPr txBox="1"/>
          <p:nvPr/>
        </p:nvSpPr>
        <p:spPr>
          <a:xfrm>
            <a:off x="1539300" y="1597152"/>
            <a:ext cx="19098934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Meniul</a:t>
            </a:r>
            <a:r>
              <a:rPr lang="en-US" sz="8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600" b="1" dirty="0">
                <a:solidFill>
                  <a:schemeClr val="bg1"/>
                </a:solidFill>
                <a:latin typeface="Aileron Bold" panose="00000800000000000000" pitchFamily="50" charset="0"/>
              </a:rPr>
              <a:t>UI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endParaRPr lang="en-US" sz="8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D37E14A4-70E1-2A04-AD72-0915AD6E7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73" y="3103765"/>
            <a:ext cx="1324086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Module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Principale</a:t>
            </a: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de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Procesare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ileron Bold" panose="000008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6EFF5-C903-2A82-D597-A0F9D6655AF1}"/>
              </a:ext>
            </a:extLst>
          </p:cNvPr>
          <p:cNvSpPr txBox="1"/>
          <p:nvPr/>
        </p:nvSpPr>
        <p:spPr>
          <a:xfrm>
            <a:off x="838200" y="4067386"/>
            <a:ext cx="43849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🎛️ </a:t>
            </a:r>
            <a:r>
              <a:rPr lang="en-US" sz="2000" b="1" dirty="0" err="1">
                <a:solidFill>
                  <a:schemeClr val="bg1"/>
                </a:solidFill>
              </a:rPr>
              <a:t>Separare</a:t>
            </a:r>
            <a:r>
              <a:rPr lang="en-US" sz="2000" b="1" dirty="0">
                <a:solidFill>
                  <a:schemeClr val="bg1"/>
                </a:solidFill>
              </a:rPr>
              <a:t> &amp; </a:t>
            </a:r>
            <a:r>
              <a:rPr lang="en-US" sz="2000" b="1" dirty="0" err="1">
                <a:solidFill>
                  <a:schemeClr val="bg1"/>
                </a:solidFill>
              </a:rPr>
              <a:t>Procesare</a:t>
            </a:r>
            <a:r>
              <a:rPr lang="en-US" sz="2000" b="1" dirty="0">
                <a:solidFill>
                  <a:schemeClr val="bg1"/>
                </a:solidFill>
              </a:rPr>
              <a:t>: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o-RO" sz="2000" dirty="0">
                <a:solidFill>
                  <a:schemeClr val="bg1"/>
                </a:solidFill>
              </a:rPr>
              <a:t>Modulul</a:t>
            </a:r>
            <a:r>
              <a:rPr lang="en-US" sz="2000" dirty="0">
                <a:solidFill>
                  <a:schemeClr val="bg1"/>
                </a:solidFill>
              </a:rPr>
              <a:t> central al </a:t>
            </a:r>
            <a:r>
              <a:rPr lang="en-US" sz="2000" dirty="0" err="1">
                <a:solidFill>
                  <a:schemeClr val="bg1"/>
                </a:solidFill>
              </a:rPr>
              <a:t>aplicației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Permite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încărcarea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semnalului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trunchierea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acestuia</a:t>
            </a:r>
            <a:r>
              <a:rPr lang="en-US" sz="2000" dirty="0">
                <a:solidFill>
                  <a:schemeClr val="bg1"/>
                </a:solidFill>
              </a:rPr>
              <a:t> (crop pe </a:t>
            </a:r>
            <a:r>
              <a:rPr lang="en-US" sz="2000" dirty="0" err="1">
                <a:solidFill>
                  <a:schemeClr val="bg1"/>
                </a:solidFill>
              </a:rPr>
              <a:t>secunde</a:t>
            </a:r>
            <a:r>
              <a:rPr lang="en-US" sz="2000" dirty="0">
                <a:solidFill>
                  <a:schemeClr val="bg1"/>
                </a:solidFill>
              </a:rPr>
              <a:t>)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aplicarea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extracției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neurale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separarea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distincte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50B85-F426-9C81-FD68-AD59615B33B3}"/>
              </a:ext>
            </a:extLst>
          </p:cNvPr>
          <p:cNvSpPr txBox="1"/>
          <p:nvPr/>
        </p:nvSpPr>
        <p:spPr>
          <a:xfrm>
            <a:off x="6130860" y="5568044"/>
            <a:ext cx="49314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🧹 </a:t>
            </a:r>
            <a:r>
              <a:rPr lang="en-US" sz="2000" b="1" dirty="0" err="1">
                <a:solidFill>
                  <a:schemeClr val="bg1"/>
                </a:solidFill>
              </a:rPr>
              <a:t>Curățare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Zgomot</a:t>
            </a:r>
            <a:r>
              <a:rPr lang="en-US" sz="2000" b="1" dirty="0">
                <a:solidFill>
                  <a:schemeClr val="bg1"/>
                </a:solidFill>
              </a:rPr>
              <a:t> (Wiener):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Modul independent de DSP. </a:t>
            </a:r>
            <a:r>
              <a:rPr lang="en-US" sz="2000" dirty="0" err="1">
                <a:solidFill>
                  <a:schemeClr val="bg1"/>
                </a:solidFill>
              </a:rPr>
              <a:t>Folosește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filtrarea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adaptivă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elimina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zgomotul</a:t>
            </a:r>
            <a:r>
              <a:rPr lang="en-US" sz="2000" dirty="0">
                <a:solidFill>
                  <a:schemeClr val="bg1"/>
                </a:solidFill>
              </a:rPr>
              <a:t> de fond </a:t>
            </a:r>
            <a:r>
              <a:rPr lang="en-US" sz="2000" dirty="0" err="1">
                <a:solidFill>
                  <a:schemeClr val="bg1"/>
                </a:solidFill>
              </a:rPr>
              <a:t>staționar</a:t>
            </a:r>
            <a:r>
              <a:rPr lang="en-US" sz="2000" dirty="0">
                <a:solidFill>
                  <a:schemeClr val="bg1"/>
                </a:solidFill>
              </a:rPr>
              <a:t> (precum </a:t>
            </a:r>
            <a:r>
              <a:rPr lang="en-US" sz="2000" dirty="0" err="1">
                <a:solidFill>
                  <a:schemeClr val="bg1"/>
                </a:solidFill>
              </a:rPr>
              <a:t>fâșâitul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microfon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zgomotul</a:t>
            </a:r>
            <a:r>
              <a:rPr lang="en-US" sz="2000" dirty="0">
                <a:solidFill>
                  <a:schemeClr val="bg1"/>
                </a:solidFill>
              </a:rPr>
              <a:t> de ventilator).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A876D-EF77-24D9-A2A4-A211E3984665}"/>
              </a:ext>
            </a:extLst>
          </p:cNvPr>
          <p:cNvSpPr txBox="1"/>
          <p:nvPr/>
        </p:nvSpPr>
        <p:spPr>
          <a:xfrm>
            <a:off x="817822" y="7195751"/>
            <a:ext cx="47590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🔬 </a:t>
            </a:r>
            <a:r>
              <a:rPr lang="en-US" sz="2000" b="1" dirty="0" err="1">
                <a:solidFill>
                  <a:schemeClr val="bg1"/>
                </a:solidFill>
              </a:rPr>
              <a:t>Optimizare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Avansat</a:t>
            </a:r>
            <a:r>
              <a:rPr lang="ro-RO" sz="2000" b="1" dirty="0">
                <a:solidFill>
                  <a:schemeClr val="bg1"/>
                </a:solidFill>
              </a:rPr>
              <a:t>ă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br>
              <a:rPr lang="ro-RO" sz="2000" b="1" dirty="0">
                <a:solidFill>
                  <a:schemeClr val="bg1"/>
                </a:solidFill>
              </a:rPr>
            </a:br>
            <a:br>
              <a:rPr lang="ro-RO" sz="2000" b="1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Un flux automat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3 </a:t>
            </a:r>
            <a:r>
              <a:rPr lang="en-US" sz="2000" dirty="0" err="1">
                <a:solidFill>
                  <a:schemeClr val="bg1"/>
                </a:solidFill>
              </a:rPr>
              <a:t>pași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dedicat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semnalelor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corupte</a:t>
            </a:r>
            <a:r>
              <a:rPr lang="en-US" sz="2000" dirty="0">
                <a:solidFill>
                  <a:schemeClr val="bg1"/>
                </a:solidFill>
              </a:rPr>
              <a:t> (DNSMOS &lt; 2.0).</a:t>
            </a:r>
            <a:endParaRPr lang="ro-RO" sz="2000" dirty="0">
              <a:solidFill>
                <a:schemeClr val="bg1"/>
              </a:solidFill>
            </a:endParaRPr>
          </a:p>
          <a:p>
            <a:endParaRPr lang="ro-RO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Sistemul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analizează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calitatea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inițială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aplică</a:t>
            </a:r>
            <a:r>
              <a:rPr lang="en-US" sz="2000" dirty="0">
                <a:solidFill>
                  <a:schemeClr val="bg1"/>
                </a:solidFill>
              </a:rPr>
              <a:t> o </a:t>
            </a:r>
            <a:r>
              <a:rPr lang="en-US" sz="2000" dirty="0" err="1">
                <a:solidFill>
                  <a:schemeClr val="bg1"/>
                </a:solidFill>
              </a:rPr>
              <a:t>filtrare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reducerea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zgomotului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finalizează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extracția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neurală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vocii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D30D8A-13E1-0F2D-BBAF-8F0745FD7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7175" y="1597152"/>
            <a:ext cx="3868096" cy="83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68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DCC49-4372-F43B-921B-305D20C32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E888CD-0849-5CB7-28EF-C464AAFB6F57}"/>
              </a:ext>
            </a:extLst>
          </p:cNvPr>
          <p:cNvSpPr/>
          <p:nvPr/>
        </p:nvSpPr>
        <p:spPr>
          <a:xfrm rot="384749">
            <a:off x="6733994" y="5251912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46B4BD-AD95-AAAA-D147-18099B87BB83}"/>
              </a:ext>
            </a:extLst>
          </p:cNvPr>
          <p:cNvSpPr/>
          <p:nvPr/>
        </p:nvSpPr>
        <p:spPr>
          <a:xfrm>
            <a:off x="-585329" y="-3437936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77F7AA47-8B7C-8520-9FC3-305ACE5C7060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3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8F444534-2A1A-7849-0E29-B686EB870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189D4B-1D14-5E32-43E9-4C3FC9C597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1" name="TextBox 25">
            <a:extLst>
              <a:ext uri="{FF2B5EF4-FFF2-40B4-BE49-F238E27FC236}">
                <a16:creationId xmlns:a16="http://schemas.microsoft.com/office/drawing/2014/main" id="{14D82E99-6552-6BE7-A6E2-61E70EE76E27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15A6FB18-621D-424B-E218-C371CAF8B296}"/>
              </a:ext>
            </a:extLst>
          </p:cNvPr>
          <p:cNvSpPr txBox="1"/>
          <p:nvPr/>
        </p:nvSpPr>
        <p:spPr>
          <a:xfrm>
            <a:off x="1539300" y="1597152"/>
            <a:ext cx="19098934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Meniul</a:t>
            </a:r>
            <a:r>
              <a:rPr lang="en-US" sz="8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600" b="1" dirty="0">
                <a:solidFill>
                  <a:schemeClr val="bg1"/>
                </a:solidFill>
                <a:latin typeface="Aileron Bold" panose="00000800000000000000" pitchFamily="50" charset="0"/>
              </a:rPr>
              <a:t>UI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endParaRPr lang="en-US" sz="8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EF45AEB8-304A-22E8-C785-2665BFB93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73" y="3103765"/>
            <a:ext cx="1324086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Module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Principale</a:t>
            </a: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de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Procesare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ileron Bold" panose="000008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DC1AA-08F5-6C6B-B677-3CB85A2908E8}"/>
              </a:ext>
            </a:extLst>
          </p:cNvPr>
          <p:cNvSpPr txBox="1"/>
          <p:nvPr/>
        </p:nvSpPr>
        <p:spPr>
          <a:xfrm>
            <a:off x="838200" y="4067386"/>
            <a:ext cx="449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🤖 </a:t>
            </a:r>
            <a:r>
              <a:rPr lang="en-US" sz="2000" b="1" dirty="0" err="1">
                <a:solidFill>
                  <a:schemeClr val="bg1"/>
                </a:solidFill>
              </a:rPr>
              <a:t>Evaluare</a:t>
            </a:r>
            <a:r>
              <a:rPr lang="en-US" sz="2000" b="1" dirty="0">
                <a:solidFill>
                  <a:schemeClr val="bg1"/>
                </a:solidFill>
              </a:rPr>
              <a:t> DNSMOS (Blind): 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Utilizează</a:t>
            </a:r>
            <a:r>
              <a:rPr lang="en-US" sz="2000" dirty="0">
                <a:solidFill>
                  <a:schemeClr val="bg1"/>
                </a:solidFill>
              </a:rPr>
              <a:t> un </a:t>
            </a:r>
            <a:r>
              <a:rPr lang="ro-RO" sz="2000" dirty="0">
                <a:solidFill>
                  <a:schemeClr val="bg1"/>
                </a:solidFill>
              </a:rPr>
              <a:t>sistem automat de evaluare </a:t>
            </a:r>
            <a:r>
              <a:rPr lang="en-US" sz="2000" dirty="0">
                <a:solidFill>
                  <a:schemeClr val="bg1"/>
                </a:solidFill>
              </a:rPr>
              <a:t>de la Microsoft care </a:t>
            </a:r>
            <a:r>
              <a:rPr lang="en-US" sz="2000" dirty="0" err="1">
                <a:solidFill>
                  <a:schemeClr val="bg1"/>
                </a:solidFill>
              </a:rPr>
              <a:t>oferă</a:t>
            </a:r>
            <a:r>
              <a:rPr lang="en-US" sz="2000" dirty="0">
                <a:solidFill>
                  <a:schemeClr val="bg1"/>
                </a:solidFill>
              </a:rPr>
              <a:t> note de la 1 la 5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claritatea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vocii</a:t>
            </a:r>
            <a:r>
              <a:rPr lang="en-US" sz="2000" dirty="0">
                <a:solidFill>
                  <a:schemeClr val="bg1"/>
                </a:solidFill>
              </a:rPr>
              <a:t> (SIG)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absența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zgomotului</a:t>
            </a:r>
            <a:r>
              <a:rPr lang="en-US" sz="2000" dirty="0">
                <a:solidFill>
                  <a:schemeClr val="bg1"/>
                </a:solidFill>
              </a:rPr>
              <a:t> (BAK), </a:t>
            </a:r>
            <a:r>
              <a:rPr lang="en-US" sz="2000" dirty="0" err="1">
                <a:solidFill>
                  <a:schemeClr val="bg1"/>
                </a:solidFill>
              </a:rPr>
              <a:t>fără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avea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nevoie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fișierul</a:t>
            </a:r>
            <a:r>
              <a:rPr lang="en-US" sz="2000" dirty="0">
                <a:solidFill>
                  <a:schemeClr val="bg1"/>
                </a:solidFill>
              </a:rPr>
              <a:t> original de </a:t>
            </a:r>
            <a:r>
              <a:rPr lang="en-US" sz="2000" dirty="0" err="1">
                <a:solidFill>
                  <a:schemeClr val="bg1"/>
                </a:solidFill>
              </a:rPr>
              <a:t>referință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5ABE2-9C40-FF9C-66D0-859C0EFCF42A}"/>
              </a:ext>
            </a:extLst>
          </p:cNvPr>
          <p:cNvSpPr txBox="1"/>
          <p:nvPr/>
        </p:nvSpPr>
        <p:spPr>
          <a:xfrm>
            <a:off x="6034460" y="5755091"/>
            <a:ext cx="493141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🏆 </a:t>
            </a:r>
            <a:r>
              <a:rPr lang="en-US" sz="2000" b="1" dirty="0" err="1">
                <a:solidFill>
                  <a:schemeClr val="bg1"/>
                </a:solidFill>
              </a:rPr>
              <a:t>Evaluare</a:t>
            </a:r>
            <a:r>
              <a:rPr lang="en-US" sz="2000" b="1" dirty="0">
                <a:solidFill>
                  <a:schemeClr val="bg1"/>
                </a:solidFill>
              </a:rPr>
              <a:t> PESQ (Perceptual):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Modul "Full-Reference" care </a:t>
            </a:r>
            <a:r>
              <a:rPr lang="en-US" sz="2000" dirty="0" err="1">
                <a:solidFill>
                  <a:schemeClr val="bg1"/>
                </a:solidFill>
              </a:rPr>
              <a:t>compară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extrasă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referin</a:t>
            </a:r>
            <a:r>
              <a:rPr lang="ro-RO" sz="2000" dirty="0">
                <a:solidFill>
                  <a:schemeClr val="bg1"/>
                </a:solidFill>
              </a:rPr>
              <a:t>ț</a:t>
            </a: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originală</a:t>
            </a:r>
            <a:r>
              <a:rPr lang="ro-RO" sz="2000" dirty="0">
                <a:solidFill>
                  <a:schemeClr val="bg1"/>
                </a:solidFill>
              </a:rPr>
              <a:t> curată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aplicând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algoritmi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aliniere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temporală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măsura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degradarea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acustică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resimțită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urechea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umană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5BB7-FFDC-C3E3-FB2F-0259468B764C}"/>
              </a:ext>
            </a:extLst>
          </p:cNvPr>
          <p:cNvSpPr txBox="1"/>
          <p:nvPr/>
        </p:nvSpPr>
        <p:spPr>
          <a:xfrm>
            <a:off x="820476" y="7912665"/>
            <a:ext cx="49314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📐 </a:t>
            </a:r>
            <a:r>
              <a:rPr lang="en-US" sz="2000" b="1" dirty="0" err="1">
                <a:solidFill>
                  <a:schemeClr val="bg1"/>
                </a:solidFill>
              </a:rPr>
              <a:t>Evaluare</a:t>
            </a:r>
            <a:r>
              <a:rPr lang="en-US" sz="2000" b="1" dirty="0">
                <a:solidFill>
                  <a:schemeClr val="bg1"/>
                </a:solidFill>
              </a:rPr>
              <a:t> SI-SDR (</a:t>
            </a:r>
            <a:r>
              <a:rPr lang="en-US" sz="2000" b="1" dirty="0" err="1">
                <a:solidFill>
                  <a:schemeClr val="bg1"/>
                </a:solidFill>
              </a:rPr>
              <a:t>Matematic</a:t>
            </a:r>
            <a:r>
              <a:rPr lang="en-US" sz="2000" b="1" dirty="0">
                <a:solidFill>
                  <a:schemeClr val="bg1"/>
                </a:solidFill>
              </a:rPr>
              <a:t>):</a:t>
            </a:r>
            <a:br>
              <a:rPr lang="en-US" sz="2000" b="1" dirty="0">
                <a:solidFill>
                  <a:schemeClr val="bg1"/>
                </a:solidFill>
              </a:rPr>
            </a:b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dirty="0" err="1">
                <a:solidFill>
                  <a:schemeClr val="bg1"/>
                </a:solidFill>
              </a:rPr>
              <a:t>Calculează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>
                <a:solidFill>
                  <a:schemeClr val="bg1"/>
                </a:solidFill>
              </a:rPr>
              <a:t>calitatea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matematică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semnalului</a:t>
            </a:r>
            <a:r>
              <a:rPr lang="en-US" sz="2000" dirty="0">
                <a:solidFill>
                  <a:schemeClr val="bg1"/>
                </a:solidFill>
              </a:rPr>
              <a:t> extras (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decibeli</a:t>
            </a:r>
            <a:r>
              <a:rPr lang="en-US" sz="2000" dirty="0">
                <a:solidFill>
                  <a:schemeClr val="bg1"/>
                </a:solidFill>
              </a:rPr>
              <a:t>). Este o </a:t>
            </a:r>
            <a:r>
              <a:rPr lang="en-US" sz="2000" dirty="0" err="1">
                <a:solidFill>
                  <a:schemeClr val="bg1"/>
                </a:solidFill>
              </a:rPr>
              <a:t>metrică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strictă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invariantă</a:t>
            </a:r>
            <a:r>
              <a:rPr lang="en-US" sz="2000" dirty="0">
                <a:solidFill>
                  <a:schemeClr val="bg1"/>
                </a:solidFill>
              </a:rPr>
              <a:t> la </a:t>
            </a:r>
            <a:r>
              <a:rPr lang="en-US" sz="2000" dirty="0" err="1">
                <a:solidFill>
                  <a:schemeClr val="bg1"/>
                </a:solidFill>
              </a:rPr>
              <a:t>modificările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volum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73E4F2-3CF3-9BB9-8E86-91B6FE9EC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7175" y="1597152"/>
            <a:ext cx="3868096" cy="831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86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E7B28-9E34-2720-2B6A-62FBEDBC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7859744-827B-40BE-9A72-F147EC94FCB5}"/>
              </a:ext>
            </a:extLst>
          </p:cNvPr>
          <p:cNvSpPr/>
          <p:nvPr/>
        </p:nvSpPr>
        <p:spPr>
          <a:xfrm rot="384749">
            <a:off x="6810194" y="5201988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49AA29E-3AA5-08F3-3EC3-A0D66E18DAFF}"/>
              </a:ext>
            </a:extLst>
          </p:cNvPr>
          <p:cNvSpPr/>
          <p:nvPr/>
        </p:nvSpPr>
        <p:spPr>
          <a:xfrm>
            <a:off x="-585329" y="-3437936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8" name="TextBox 36">
            <a:extLst>
              <a:ext uri="{FF2B5EF4-FFF2-40B4-BE49-F238E27FC236}">
                <a16:creationId xmlns:a16="http://schemas.microsoft.com/office/drawing/2014/main" id="{829CF37A-C6F8-E7A7-767C-07006DCD8195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4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BACF3969-F725-ACC5-151F-D6EC24C194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13553D4-58E9-9A4C-91AB-60D6E971B3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1" name="TextBox 25">
            <a:extLst>
              <a:ext uri="{FF2B5EF4-FFF2-40B4-BE49-F238E27FC236}">
                <a16:creationId xmlns:a16="http://schemas.microsoft.com/office/drawing/2014/main" id="{AE101304-67D0-F456-EB02-E9950CDADF40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58BBBE11-1D2C-6E5D-6779-EF4D1F19A9D9}"/>
              </a:ext>
            </a:extLst>
          </p:cNvPr>
          <p:cNvSpPr txBox="1"/>
          <p:nvPr/>
        </p:nvSpPr>
        <p:spPr>
          <a:xfrm>
            <a:off x="1539300" y="1597152"/>
            <a:ext cx="19098934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7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Meniul</a:t>
            </a:r>
            <a:r>
              <a:rPr lang="en-US" sz="86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600" b="1" dirty="0">
                <a:solidFill>
                  <a:schemeClr val="bg1"/>
                </a:solidFill>
                <a:latin typeface="Aileron Bold" panose="00000800000000000000" pitchFamily="50" charset="0"/>
              </a:rPr>
              <a:t>UI</a:t>
            </a:r>
          </a:p>
          <a:p>
            <a:pPr lvl="0">
              <a:lnSpc>
                <a:spcPts val="9032"/>
              </a:lnSpc>
              <a:spcBef>
                <a:spcPct val="0"/>
              </a:spcBef>
            </a:pPr>
            <a:endParaRPr lang="en-US" sz="86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30C7AE3D-B5EE-114D-0127-29E77EFE3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873" y="3103765"/>
            <a:ext cx="1324086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Module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Principale</a:t>
            </a:r>
            <a:r>
              <a:rPr lang="en-US" altLang="en-US" sz="2500" dirty="0">
                <a:solidFill>
                  <a:schemeClr val="bg1"/>
                </a:solidFill>
                <a:latin typeface="Aileron Bold" panose="00000800000000000000" pitchFamily="50" charset="0"/>
              </a:rPr>
              <a:t> de </a:t>
            </a:r>
            <a:r>
              <a:rPr lang="en-US" altLang="en-US" sz="25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Procesare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ileron Bold" panose="000008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4917F-AC59-D349-1713-E75A53A43EB3}"/>
              </a:ext>
            </a:extLst>
          </p:cNvPr>
          <p:cNvSpPr txBox="1"/>
          <p:nvPr/>
        </p:nvSpPr>
        <p:spPr>
          <a:xfrm>
            <a:off x="838199" y="4067386"/>
            <a:ext cx="47477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📈 </a:t>
            </a:r>
            <a:r>
              <a:rPr lang="en-US" sz="2000" b="1" dirty="0" err="1">
                <a:solidFill>
                  <a:schemeClr val="bg1"/>
                </a:solidFill>
              </a:rPr>
              <a:t>Analiză</a:t>
            </a:r>
            <a:r>
              <a:rPr lang="en-US" sz="2000" b="1" dirty="0">
                <a:solidFill>
                  <a:schemeClr val="bg1"/>
                </a:solidFill>
              </a:rPr>
              <a:t> DSP (</a:t>
            </a:r>
            <a:r>
              <a:rPr lang="en-US" sz="2000" b="1" dirty="0" err="1">
                <a:solidFill>
                  <a:schemeClr val="bg1"/>
                </a:solidFill>
              </a:rPr>
              <a:t>Spectrograme</a:t>
            </a:r>
            <a:r>
              <a:rPr lang="en-US" sz="2000" b="1" dirty="0">
                <a:solidFill>
                  <a:schemeClr val="bg1"/>
                </a:solidFill>
              </a:rPr>
              <a:t>):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Generează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vizual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hărțile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frecvență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semnalul</a:t>
            </a:r>
            <a:r>
              <a:rPr lang="en-US" sz="2000" dirty="0">
                <a:solidFill>
                  <a:schemeClr val="bg1"/>
                </a:solidFill>
              </a:rPr>
              <a:t> original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vocile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extrase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 err="1">
                <a:solidFill>
                  <a:schemeClr val="bg1"/>
                </a:solidFill>
              </a:rPr>
              <a:t>Demonstrează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vizual</a:t>
            </a:r>
            <a:r>
              <a:rPr lang="en-US" sz="2000" dirty="0">
                <a:solidFill>
                  <a:schemeClr val="bg1"/>
                </a:solidFill>
              </a:rPr>
              <a:t> cum AI-ul a </a:t>
            </a:r>
            <a:r>
              <a:rPr lang="ro-RO" sz="2000" dirty="0">
                <a:solidFill>
                  <a:schemeClr val="bg1"/>
                </a:solidFill>
              </a:rPr>
              <a:t>separat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frecven</a:t>
            </a:r>
            <a:r>
              <a:rPr lang="ro-RO" sz="2000" dirty="0">
                <a:solidFill>
                  <a:schemeClr val="bg1"/>
                </a:solidFill>
              </a:rPr>
              <a:t>ț</a:t>
            </a:r>
            <a:r>
              <a:rPr lang="en-US" sz="2000" dirty="0" err="1">
                <a:solidFill>
                  <a:schemeClr val="bg1"/>
                </a:solidFill>
              </a:rPr>
              <a:t>ele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vocale</a:t>
            </a:r>
            <a:r>
              <a:rPr lang="en-US" sz="2000" dirty="0">
                <a:solidFill>
                  <a:schemeClr val="bg1"/>
                </a:solidFill>
              </a:rPr>
              <a:t> din </a:t>
            </a:r>
            <a:r>
              <a:rPr lang="en-US" sz="2000" dirty="0" err="1">
                <a:solidFill>
                  <a:schemeClr val="bg1"/>
                </a:solidFill>
              </a:rPr>
              <a:t>zgomot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CEE94-33F5-D1A0-DBBE-A4EAB2165B37}"/>
              </a:ext>
            </a:extLst>
          </p:cNvPr>
          <p:cNvSpPr txBox="1"/>
          <p:nvPr/>
        </p:nvSpPr>
        <p:spPr>
          <a:xfrm>
            <a:off x="838200" y="7023864"/>
            <a:ext cx="47590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🎧 </a:t>
            </a:r>
            <a:r>
              <a:rPr lang="en-US" sz="2000" b="1" dirty="0" err="1">
                <a:solidFill>
                  <a:schemeClr val="bg1"/>
                </a:solidFill>
              </a:rPr>
              <a:t>Exemple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Preîncărcate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O </a:t>
            </a:r>
            <a:r>
              <a:rPr lang="en-US" sz="2000" dirty="0" err="1">
                <a:solidFill>
                  <a:schemeClr val="bg1"/>
                </a:solidFill>
              </a:rPr>
              <a:t>librărie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integrată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interfață</a:t>
            </a:r>
            <a:r>
              <a:rPr lang="en-US" sz="2000" dirty="0">
                <a:solidFill>
                  <a:schemeClr val="bg1"/>
                </a:solidFill>
              </a:rPr>
              <a:t> cu </a:t>
            </a:r>
            <a:r>
              <a:rPr lang="en-US" sz="2000" dirty="0" err="1">
                <a:solidFill>
                  <a:schemeClr val="bg1"/>
                </a:solidFill>
              </a:rPr>
              <a:t>fișiere</a:t>
            </a:r>
            <a:r>
              <a:rPr lang="en-US" sz="2000" dirty="0">
                <a:solidFill>
                  <a:schemeClr val="bg1"/>
                </a:solidFill>
              </a:rPr>
              <a:t> demonstrative (</a:t>
            </a:r>
            <a:r>
              <a:rPr lang="en-US" sz="2000" dirty="0" err="1">
                <a:solidFill>
                  <a:schemeClr val="bg1"/>
                </a:solidFill>
              </a:rPr>
              <a:t>scenarii</a:t>
            </a:r>
            <a:r>
              <a:rPr lang="en-US" sz="2000" dirty="0">
                <a:solidFill>
                  <a:schemeClr val="bg1"/>
                </a:solidFill>
              </a:rPr>
              <a:t> cu 2 </a:t>
            </a:r>
            <a:r>
              <a:rPr lang="en-US" sz="2000" dirty="0" err="1">
                <a:solidFill>
                  <a:schemeClr val="bg1"/>
                </a:solidFill>
              </a:rPr>
              <a:t>sau</a:t>
            </a:r>
            <a:r>
              <a:rPr lang="en-US" sz="2000" dirty="0">
                <a:solidFill>
                  <a:schemeClr val="bg1"/>
                </a:solidFill>
              </a:rPr>
              <a:t> 3 </a:t>
            </a:r>
            <a:r>
              <a:rPr lang="en-US" sz="2000" dirty="0" err="1">
                <a:solidFill>
                  <a:schemeClr val="bg1"/>
                </a:solidFill>
              </a:rPr>
              <a:t>voci</a:t>
            </a:r>
            <a:r>
              <a:rPr lang="en-US" sz="2000" dirty="0">
                <a:solidFill>
                  <a:schemeClr val="bg1"/>
                </a:solidFill>
              </a:rPr>
              <a:t>), gata de a fi testate </a:t>
            </a:r>
            <a:r>
              <a:rPr lang="en-US" sz="2000" dirty="0" err="1">
                <a:solidFill>
                  <a:schemeClr val="bg1"/>
                </a:solidFill>
              </a:rPr>
              <a:t>printr</a:t>
            </a:r>
            <a:r>
              <a:rPr lang="en-US" sz="2000" dirty="0">
                <a:solidFill>
                  <a:schemeClr val="bg1"/>
                </a:solidFill>
              </a:rPr>
              <a:t>-un </a:t>
            </a:r>
            <a:r>
              <a:rPr lang="en-US" sz="2000" dirty="0" err="1">
                <a:solidFill>
                  <a:schemeClr val="bg1"/>
                </a:solidFill>
              </a:rPr>
              <a:t>simplu</a:t>
            </a:r>
            <a:r>
              <a:rPr lang="en-US" sz="2000" dirty="0">
                <a:solidFill>
                  <a:schemeClr val="bg1"/>
                </a:solidFill>
              </a:rPr>
              <a:t> click.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CF4D4-1782-5EB2-1806-6A2EF38F5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7175" y="1597152"/>
            <a:ext cx="3868096" cy="83158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189F69-68BE-D1EB-8766-BBFF6BBCF26B}"/>
              </a:ext>
            </a:extLst>
          </p:cNvPr>
          <p:cNvSpPr txBox="1"/>
          <p:nvPr/>
        </p:nvSpPr>
        <p:spPr>
          <a:xfrm>
            <a:off x="6302022" y="4931134"/>
            <a:ext cx="47590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✂️ Voice Activity Detection (VAD):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Utilizează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modelul</a:t>
            </a:r>
            <a:r>
              <a:rPr lang="en-US" sz="2000" dirty="0">
                <a:solidFill>
                  <a:schemeClr val="bg1"/>
                </a:solidFill>
              </a:rPr>
              <a:t> neural </a:t>
            </a:r>
            <a:r>
              <a:rPr lang="en-US" sz="2000" i="1" dirty="0" err="1">
                <a:solidFill>
                  <a:schemeClr val="bg1"/>
                </a:solidFill>
              </a:rPr>
              <a:t>Silero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pentru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detecta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tăia</a:t>
            </a:r>
            <a:r>
              <a:rPr lang="en-US" sz="2000" dirty="0">
                <a:solidFill>
                  <a:schemeClr val="bg1"/>
                </a:solidFill>
              </a:rPr>
              <a:t> automat </a:t>
            </a:r>
            <a:r>
              <a:rPr lang="en-US" sz="2000" dirty="0" err="1">
                <a:solidFill>
                  <a:schemeClr val="bg1"/>
                </a:solidFill>
              </a:rPr>
              <a:t>perioadele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liniște</a:t>
            </a:r>
            <a:r>
              <a:rPr lang="en-US" sz="2000" dirty="0">
                <a:solidFill>
                  <a:schemeClr val="bg1"/>
                </a:solidFill>
              </a:rPr>
              <a:t>  din </a:t>
            </a:r>
            <a:r>
              <a:rPr lang="en-US" sz="2000" dirty="0" err="1">
                <a:solidFill>
                  <a:schemeClr val="bg1"/>
                </a:solidFill>
              </a:rPr>
              <a:t>fișierul</a:t>
            </a:r>
            <a:r>
              <a:rPr lang="en-US" sz="2000" dirty="0">
                <a:solidFill>
                  <a:schemeClr val="bg1"/>
                </a:solidFill>
              </a:rPr>
              <a:t> audio.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B54288-1E31-6BD2-C65F-423251867CBA}"/>
              </a:ext>
            </a:extLst>
          </p:cNvPr>
          <p:cNvSpPr txBox="1"/>
          <p:nvPr/>
        </p:nvSpPr>
        <p:spPr>
          <a:xfrm>
            <a:off x="6202388" y="7657416"/>
            <a:ext cx="49478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📚 </a:t>
            </a:r>
            <a:r>
              <a:rPr lang="en-US" sz="2000" b="1" dirty="0" err="1">
                <a:solidFill>
                  <a:schemeClr val="bg1"/>
                </a:solidFill>
              </a:rPr>
              <a:t>Documentație</a:t>
            </a:r>
            <a:r>
              <a:rPr lang="en-US" sz="2000" b="1" dirty="0">
                <a:solidFill>
                  <a:schemeClr val="bg1"/>
                </a:solidFill>
              </a:rPr>
              <a:t> &amp; </a:t>
            </a:r>
            <a:r>
              <a:rPr lang="en-US" sz="2000" b="1" dirty="0" err="1">
                <a:solidFill>
                  <a:schemeClr val="bg1"/>
                </a:solidFill>
              </a:rPr>
              <a:t>Teorie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Secțiune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teorie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suport</a:t>
            </a:r>
            <a:r>
              <a:rPr lang="en-US" sz="2000" dirty="0">
                <a:solidFill>
                  <a:schemeClr val="bg1"/>
                </a:solidFill>
              </a:rPr>
              <a:t> direct </a:t>
            </a:r>
            <a:r>
              <a:rPr lang="en-US" sz="2000" dirty="0" err="1">
                <a:solidFill>
                  <a:schemeClr val="bg1"/>
                </a:solidFill>
              </a:rPr>
              <a:t>în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aplicație</a:t>
            </a:r>
            <a:r>
              <a:rPr lang="en-US" sz="2000" dirty="0">
                <a:solidFill>
                  <a:schemeClr val="bg1"/>
                </a:solidFill>
              </a:rPr>
              <a:t>, care </a:t>
            </a:r>
            <a:r>
              <a:rPr lang="en-US" sz="2000" dirty="0" err="1">
                <a:solidFill>
                  <a:schemeClr val="bg1"/>
                </a:solidFill>
              </a:rPr>
              <a:t>detaliază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o-RO" sz="2000" dirty="0">
                <a:solidFill>
                  <a:schemeClr val="bg1"/>
                </a:solidFill>
              </a:rPr>
              <a:t>metodele de </a:t>
            </a:r>
            <a:r>
              <a:rPr lang="en-US" sz="2000" dirty="0" err="1">
                <a:solidFill>
                  <a:schemeClr val="bg1"/>
                </a:solidFill>
              </a:rPr>
              <a:t>separare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și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formulele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validare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calității</a:t>
            </a:r>
            <a:r>
              <a:rPr lang="en-US" sz="2000" dirty="0">
                <a:solidFill>
                  <a:schemeClr val="bg1"/>
                </a:solidFill>
              </a:rPr>
              <a:t> audio.</a:t>
            </a:r>
          </a:p>
        </p:txBody>
      </p:sp>
    </p:spTree>
    <p:extLst>
      <p:ext uri="{BB962C8B-B14F-4D97-AF65-F5344CB8AC3E}">
        <p14:creationId xmlns:p14="http://schemas.microsoft.com/office/powerpoint/2010/main" val="313103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84749">
            <a:off x="7343595" y="7476152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12966734">
            <a:off x="-4638428" y="-3510003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558350" y="1628338"/>
            <a:ext cx="13688734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Testare</a:t>
            </a:r>
            <a:r>
              <a:rPr lang="en-US" sz="8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și</a:t>
            </a:r>
            <a:r>
              <a:rPr lang="en-US" sz="8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Rezultate</a:t>
            </a:r>
            <a:endParaRPr lang="en-US" sz="80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2CCC9615-F2AB-0B7A-4B1B-1B5901629FD8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</a:t>
            </a:r>
            <a:r>
              <a:rPr lang="ro-RO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5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6B13EDBE-1B3F-0D74-27A4-AC9847360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4E324B-4E87-BF95-576A-9B2002EC87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FD14AEBF-8C2C-8A6E-A3A8-5C51BCD30C85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D0A8BF-BED7-1F4A-D009-02B3DA58B8FF}"/>
              </a:ext>
            </a:extLst>
          </p:cNvPr>
          <p:cNvSpPr txBox="1"/>
          <p:nvPr/>
        </p:nvSpPr>
        <p:spPr>
          <a:xfrm flipH="1">
            <a:off x="7449297" y="2875364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Demo </a:t>
            </a:r>
            <a:r>
              <a:rPr lang="en-US" sz="22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Exemple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Preîncărcate</a:t>
            </a:r>
            <a:endParaRPr lang="en-US" sz="2200" dirty="0">
              <a:solidFill>
                <a:schemeClr val="bg1"/>
              </a:solidFill>
              <a:latin typeface="Aileron Bold" panose="00000800000000000000" pitchFamily="50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156775E4-89FE-4A41-C287-0284253B38EC}"/>
              </a:ext>
            </a:extLst>
          </p:cNvPr>
          <p:cNvSpPr txBox="1"/>
          <p:nvPr/>
        </p:nvSpPr>
        <p:spPr>
          <a:xfrm>
            <a:off x="1104900" y="9793026"/>
            <a:ext cx="7467600" cy="290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</a:t>
            </a:r>
            <a:r>
              <a:rPr lang="ro-RO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Platforma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validată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folosind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testele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rapide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din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aplicație</a:t>
            </a:r>
            <a:endParaRPr lang="en-US" dirty="0">
              <a:solidFill>
                <a:schemeClr val="bg1"/>
              </a:solidFill>
              <a:latin typeface="Nunito Sans Condensed Bold" panose="020B0604020202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B6F4D0-4B6A-CAD5-38B4-355ACC18E2AA}"/>
              </a:ext>
            </a:extLst>
          </p:cNvPr>
          <p:cNvSpPr txBox="1"/>
          <p:nvPr/>
        </p:nvSpPr>
        <p:spPr>
          <a:xfrm flipH="1">
            <a:off x="7010400" y="3495645"/>
            <a:ext cx="617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Exemplul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1: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Mediu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Poluat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Fonic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(2 Voci)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B6D8C6-9B26-6FB5-FADA-D5EFC4F72F16}"/>
              </a:ext>
            </a:extLst>
          </p:cNvPr>
          <p:cNvSpPr txBox="1"/>
          <p:nvPr/>
        </p:nvSpPr>
        <p:spPr>
          <a:xfrm>
            <a:off x="2253018" y="4928056"/>
            <a:ext cx="147359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acest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scenariu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testare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 s-a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vizat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separarea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doi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vorbitori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într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-un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mediu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cu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zgomot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ambiental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ridicat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și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reflexii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acustice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8F608E0-85D6-37D5-4E20-CF9C5E2FC697}"/>
              </a:ext>
            </a:extLst>
          </p:cNvPr>
          <p:cNvSpPr txBox="1"/>
          <p:nvPr/>
        </p:nvSpPr>
        <p:spPr>
          <a:xfrm>
            <a:off x="2299121" y="5710634"/>
            <a:ext cx="148986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Configurație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S-a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utilizat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modelul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"SepFormer WHAMR"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special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antrenat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pentru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robustețe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condiții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zgomot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și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ecou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F8D5F3-CD70-A0A7-EC91-9A432BF4193E}"/>
              </a:ext>
            </a:extLst>
          </p:cNvPr>
          <p:cNvSpPr txBox="1"/>
          <p:nvPr/>
        </p:nvSpPr>
        <p:spPr>
          <a:xfrm>
            <a:off x="2623529" y="6553200"/>
            <a:ext cx="140165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Procesare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Sistemul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identificat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caracteristicile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specifice ale vocilor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izolându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-le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eficient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interferențele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exterioare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020722-CE3F-6549-D987-529826DEBD16}"/>
              </a:ext>
            </a:extLst>
          </p:cNvPr>
          <p:cNvSpPr txBox="1"/>
          <p:nvPr/>
        </p:nvSpPr>
        <p:spPr>
          <a:xfrm>
            <a:off x="818723" y="7395766"/>
            <a:ext cx="17164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Performanță</a:t>
            </a:r>
            <a:r>
              <a:rPr lang="en-US" sz="20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Analiza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prin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metrica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DNSMOS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confirmat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eficiența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fluxului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lucru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raportând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o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creștere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ro-RO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semnificativ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ă 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scorului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calitate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generală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. 	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Trecerea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de la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stadiul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brut la cel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separat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demonstrat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capacitatea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arhitecturii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de a </a:t>
            </a:r>
            <a:r>
              <a:rPr lang="ro-RO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reduce zgomotul din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semnal</a:t>
            </a:r>
            <a:r>
              <a:rPr lang="ro-RO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fără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degrada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timbrul</a:t>
            </a:r>
            <a:r>
              <a:rPr lang="en-US" sz="2000" dirty="0">
                <a:solidFill>
                  <a:schemeClr val="bg1"/>
                </a:solidFill>
                <a:latin typeface="Aileron Light" panose="00000400000000000000" pitchFamily="50" charset="0"/>
              </a:rPr>
              <a:t> vocal original.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allAtOnce"/>
      <p:bldP spid="36" grpId="0"/>
      <p:bldP spid="39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3BE8D-7D07-6D8F-3334-7291A401E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123ADE3-7D2E-0A3E-BEF6-16B1E52A7F0C}"/>
              </a:ext>
            </a:extLst>
          </p:cNvPr>
          <p:cNvSpPr/>
          <p:nvPr/>
        </p:nvSpPr>
        <p:spPr>
          <a:xfrm rot="384749">
            <a:off x="7343595" y="7476152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3FFEAC-651E-C91B-F15D-701159603915}"/>
              </a:ext>
            </a:extLst>
          </p:cNvPr>
          <p:cNvSpPr/>
          <p:nvPr/>
        </p:nvSpPr>
        <p:spPr>
          <a:xfrm rot="12966734">
            <a:off x="-4638428" y="-3510003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CB5093C-DB2A-1267-A148-4330146D670C}"/>
              </a:ext>
            </a:extLst>
          </p:cNvPr>
          <p:cNvSpPr txBox="1"/>
          <p:nvPr/>
        </p:nvSpPr>
        <p:spPr>
          <a:xfrm>
            <a:off x="1558350" y="1628338"/>
            <a:ext cx="13688734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9032"/>
              </a:lnSpc>
              <a:spcBef>
                <a:spcPct val="0"/>
              </a:spcBef>
            </a:pP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Testare</a:t>
            </a:r>
            <a:r>
              <a:rPr lang="en-US" sz="8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și</a:t>
            </a:r>
            <a:r>
              <a:rPr lang="en-US" sz="80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Rezultate</a:t>
            </a:r>
            <a:endParaRPr lang="en-US" sz="8000" b="1" u="none" strike="noStrike" spc="-539" dirty="0">
              <a:solidFill>
                <a:schemeClr val="bg1"/>
              </a:solidFill>
              <a:latin typeface="Aileron Bold" panose="00000800000000000000" pitchFamily="50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C601BCFF-0D6D-27B6-E6B1-E3D20F391589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16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BCAEC4FE-8052-5D77-4FFC-CBF63344A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0C1AC6D-DCD2-4C2C-2671-7A88212445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E8BCF380-7EE0-B9D1-A935-AD191044D6DC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BD1523-190D-4DAB-0756-5B5893DAA226}"/>
              </a:ext>
            </a:extLst>
          </p:cNvPr>
          <p:cNvSpPr txBox="1"/>
          <p:nvPr/>
        </p:nvSpPr>
        <p:spPr>
          <a:xfrm flipH="1">
            <a:off x="7449297" y="2875364"/>
            <a:ext cx="4343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Demo </a:t>
            </a:r>
            <a:r>
              <a:rPr lang="en-US" sz="22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Exemple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Bold" panose="00000800000000000000" pitchFamily="50" charset="0"/>
              </a:rPr>
              <a:t>Preîncărcate</a:t>
            </a:r>
            <a:endParaRPr lang="en-US" sz="2200" dirty="0">
              <a:solidFill>
                <a:schemeClr val="bg1"/>
              </a:solidFill>
              <a:latin typeface="Aileron Bold" panose="00000800000000000000" pitchFamily="50" charset="0"/>
            </a:endParaRPr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5D8CA778-F2BA-E18A-9A50-D2305E0BA963}"/>
              </a:ext>
            </a:extLst>
          </p:cNvPr>
          <p:cNvSpPr txBox="1"/>
          <p:nvPr/>
        </p:nvSpPr>
        <p:spPr>
          <a:xfrm>
            <a:off x="1104900" y="9793026"/>
            <a:ext cx="7467600" cy="290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14"/>
              </a:lnSpc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Nunito Sans Condensed Bold" panose="020B0604020202020204" charset="0"/>
                <a:ea typeface="Nunito Sans Condensed Bold"/>
                <a:cs typeface="Nunito Sans Condensed Bold"/>
                <a:sym typeface="Nunito Sans Condensed Bold"/>
              </a:rPr>
              <a:t>* </a:t>
            </a:r>
            <a:r>
              <a:rPr lang="ro-RO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Platforma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a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fost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validată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folosind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testele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rapide</a:t>
            </a:r>
            <a:r>
              <a:rPr lang="en-US" dirty="0">
                <a:solidFill>
                  <a:schemeClr val="bg1"/>
                </a:solidFill>
                <a:latin typeface="Nunito Sans Condensed Bold" panose="020B0604020202020204" charset="0"/>
              </a:rPr>
              <a:t> din </a:t>
            </a:r>
            <a:r>
              <a:rPr lang="en-US" dirty="0" err="1">
                <a:solidFill>
                  <a:schemeClr val="bg1"/>
                </a:solidFill>
                <a:latin typeface="Nunito Sans Condensed Bold" panose="020B0604020202020204" charset="0"/>
              </a:rPr>
              <a:t>aplicație</a:t>
            </a:r>
            <a:endParaRPr lang="en-US" dirty="0">
              <a:solidFill>
                <a:schemeClr val="bg1"/>
              </a:solidFill>
              <a:latin typeface="Nunito Sans Condensed Bold" panose="020B060402020202020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218252-0D28-0A30-42EF-39ABFCCA29A7}"/>
              </a:ext>
            </a:extLst>
          </p:cNvPr>
          <p:cNvSpPr txBox="1"/>
          <p:nvPr/>
        </p:nvSpPr>
        <p:spPr>
          <a:xfrm flipH="1">
            <a:off x="6929752" y="3496843"/>
            <a:ext cx="617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Exemplul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2: </a:t>
            </a:r>
            <a:r>
              <a:rPr lang="en-US" sz="2000" dirty="0" err="1">
                <a:solidFill>
                  <a:schemeClr val="bg1"/>
                </a:solidFill>
                <a:latin typeface="Aileron Bold" panose="00000800000000000000" pitchFamily="50" charset="0"/>
              </a:rPr>
              <a:t>Suprapunerea</a:t>
            </a:r>
            <a:r>
              <a:rPr lang="en-US" sz="2000" dirty="0">
                <a:solidFill>
                  <a:schemeClr val="bg1"/>
                </a:solidFill>
                <a:latin typeface="Aileron Bold" panose="00000800000000000000" pitchFamily="50" charset="0"/>
              </a:rPr>
              <a:t> Multi-Vocal</a:t>
            </a:r>
            <a:r>
              <a:rPr lang="ro-RO" sz="2000" dirty="0">
                <a:solidFill>
                  <a:schemeClr val="bg1"/>
                </a:solidFill>
                <a:latin typeface="Aileron Bold" panose="00000800000000000000" pitchFamily="50" charset="0"/>
              </a:rPr>
              <a:t>ă (3 Voci)</a:t>
            </a:r>
            <a:endParaRPr lang="en-US" sz="2000" dirty="0">
              <a:solidFill>
                <a:schemeClr val="bg1"/>
              </a:solidFill>
              <a:latin typeface="Aileron Bold" panose="00000800000000000000" pitchFamily="50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78A2AD-064E-E63E-CF6F-08955EE48A75}"/>
              </a:ext>
            </a:extLst>
          </p:cNvPr>
          <p:cNvSpPr txBox="1"/>
          <p:nvPr/>
        </p:nvSpPr>
        <p:spPr>
          <a:xfrm>
            <a:off x="1887149" y="4937378"/>
            <a:ext cx="154676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Acest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test 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evaluat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capacitatea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platformei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gestiona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scenarii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complexe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tip „Cocktail Party” cu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trei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surse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vocale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simultane</a:t>
            </a:r>
            <a:endParaRPr lang="en-US" sz="2200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593F517-0A85-57C8-110F-361879C1FC57}"/>
              </a:ext>
            </a:extLst>
          </p:cNvPr>
          <p:cNvSpPr txBox="1"/>
          <p:nvPr/>
        </p:nvSpPr>
        <p:spPr>
          <a:xfrm>
            <a:off x="470580" y="5592524"/>
            <a:ext cx="1734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Configurație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S-a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aplicat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modelul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b="1" dirty="0">
                <a:solidFill>
                  <a:schemeClr val="bg1"/>
                </a:solidFill>
                <a:latin typeface="Aileron Light" panose="00000400000000000000" pitchFamily="50" charset="0"/>
              </a:rPr>
              <a:t>"SepFormer Libri3Mix"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 o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arhitectură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multi-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vocal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ă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optimizată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pentru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demultiplexarea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 exact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trei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fluxuri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audio.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5A9308-8590-883A-2FCB-FD4E68241141}"/>
              </a:ext>
            </a:extLst>
          </p:cNvPr>
          <p:cNvSpPr txBox="1"/>
          <p:nvPr/>
        </p:nvSpPr>
        <p:spPr>
          <a:xfrm>
            <a:off x="2553479" y="6247670"/>
            <a:ext cx="127117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solidFill>
                  <a:schemeClr val="bg1"/>
                </a:solidFill>
                <a:latin typeface="Aileron Bold" panose="00000800000000000000" pitchFamily="50" charset="0"/>
              </a:rPr>
              <a:t>Rezultat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Modelul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reușit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descompună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amestecul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acustic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complex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în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3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fișiere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individuale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de tip .wav. </a:t>
            </a:r>
            <a:endParaRPr lang="ro-RO" sz="2200" dirty="0">
              <a:solidFill>
                <a:schemeClr val="bg1"/>
              </a:solidFill>
              <a:latin typeface="Aileron Light" panose="00000400000000000000" pitchFamily="50" charset="0"/>
            </a:endParaRPr>
          </a:p>
          <a:p>
            <a:pPr algn="ctr"/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Fiecare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fișier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rezultat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conține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o voce s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eparat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ă,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clară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și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inteligibilă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E19413-7FF8-4AA9-581E-299A19D60121}"/>
              </a:ext>
            </a:extLst>
          </p:cNvPr>
          <p:cNvSpPr txBox="1"/>
          <p:nvPr/>
        </p:nvSpPr>
        <p:spPr>
          <a:xfrm>
            <a:off x="857250" y="7310127"/>
            <a:ext cx="16573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200" dirty="0">
                <a:solidFill>
                  <a:schemeClr val="bg1"/>
                </a:solidFill>
                <a:latin typeface="Aileron Bold" panose="00000800000000000000" pitchFamily="50" charset="0"/>
              </a:rPr>
              <a:t>		</a:t>
            </a:r>
            <a:r>
              <a:rPr lang="en-US" sz="2200" dirty="0" err="1">
                <a:solidFill>
                  <a:schemeClr val="bg1"/>
                </a:solidFill>
                <a:latin typeface="Aileron Bold" panose="00000800000000000000" pitchFamily="50" charset="0"/>
              </a:rPr>
              <a:t>Validare</a:t>
            </a:r>
            <a:r>
              <a:rPr lang="en-US" sz="2200" dirty="0">
                <a:solidFill>
                  <a:schemeClr val="bg1"/>
                </a:solidFill>
                <a:latin typeface="Aileron Bold" panose="00000800000000000000" pitchFamily="50" charset="0"/>
              </a:rPr>
              <a:t>: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Separare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a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fost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confirmat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ă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matematic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prin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metrica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b="1" dirty="0">
                <a:solidFill>
                  <a:schemeClr val="bg1"/>
                </a:solidFill>
                <a:latin typeface="Aileron Bold" panose="00000800000000000000" pitchFamily="50" charset="0"/>
              </a:rPr>
              <a:t>SI-SDR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obținându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-se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scoruri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pozitive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ridicate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.</a:t>
            </a:r>
          </a:p>
          <a:p>
            <a:pPr algn="ctr"/>
            <a:endParaRPr lang="ro-RO" sz="2200" dirty="0">
              <a:solidFill>
                <a:schemeClr val="bg1"/>
              </a:solidFill>
              <a:latin typeface="Aileron Light" panose="00000400000000000000" pitchFamily="50" charset="0"/>
            </a:endParaRPr>
          </a:p>
          <a:p>
            <a:pPr algn="ctr"/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Aceste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rezultate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atestă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faptul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că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energia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semnalului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util extras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depășește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semnificativ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reziduurile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sau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distorsiunile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Aileron Light" panose="00000400000000000000" pitchFamily="50" charset="0"/>
              </a:rPr>
              <a:t>rămase</a:t>
            </a:r>
            <a:r>
              <a:rPr lang="en-US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, </a:t>
            </a:r>
            <a:r>
              <a:rPr lang="ro-RO" sz="2200" dirty="0">
                <a:solidFill>
                  <a:schemeClr val="bg1"/>
                </a:solidFill>
                <a:latin typeface="Aileron Light" panose="00000400000000000000" pitchFamily="50" charset="0"/>
              </a:rPr>
              <a:t>confirmând performanța modelului.</a:t>
            </a:r>
            <a:endParaRPr lang="en-US" sz="2200" dirty="0">
              <a:solidFill>
                <a:schemeClr val="bg1"/>
              </a:solidFill>
              <a:latin typeface="Aileron Light" panose="000004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477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6" grpId="0"/>
      <p:bldP spid="38" grpId="0"/>
      <p:bldP spid="39" grpId="0"/>
      <p:bldP spid="40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E2E2E">
                <a:alpha val="100000"/>
              </a:srgbClr>
            </a:gs>
            <a:gs pos="50000">
              <a:srgbClr val="090909">
                <a:alpha val="100000"/>
              </a:srgbClr>
            </a:gs>
            <a:gs pos="100000">
              <a:srgbClr val="240F4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1028700" y="3168684"/>
            <a:ext cx="12458700" cy="2427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719"/>
              </a:lnSpc>
            </a:pPr>
            <a:r>
              <a:rPr lang="en-US" sz="14799" b="1" spc="-813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V</a:t>
            </a:r>
            <a:r>
              <a:rPr lang="ro-RO" sz="14799" b="1" spc="-813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ă mulțumesc !</a:t>
            </a:r>
            <a:endParaRPr lang="en-US" sz="14799" b="1" spc="-813" dirty="0">
              <a:solidFill>
                <a:srgbClr val="FFFFFF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10295986" y="5448300"/>
            <a:ext cx="808483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B2159146-4868-6CB3-B1A6-82D03E5718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800" y="464452"/>
            <a:ext cx="952500" cy="9525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3E1068F-C0FC-5603-CD79-0FB6AD16CC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5860" y="538412"/>
            <a:ext cx="1043669" cy="804580"/>
          </a:xfrm>
          <a:prstGeom prst="rect">
            <a:avLst/>
          </a:prstGeom>
        </p:spPr>
      </p:pic>
      <p:sp>
        <p:nvSpPr>
          <p:cNvPr id="30" name="TextBox 25">
            <a:extLst>
              <a:ext uri="{FF2B5EF4-FFF2-40B4-BE49-F238E27FC236}">
                <a16:creationId xmlns:a16="http://schemas.microsoft.com/office/drawing/2014/main" id="{F37760C5-EEC6-9D6E-F016-5AB717E57FDF}"/>
              </a:ext>
            </a:extLst>
          </p:cNvPr>
          <p:cNvSpPr txBox="1"/>
          <p:nvPr/>
        </p:nvSpPr>
        <p:spPr>
          <a:xfrm>
            <a:off x="7772400" y="612372"/>
            <a:ext cx="3697195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Prelucrarea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Semnalului</a:t>
            </a: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 Vocal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F945A4A6-3885-8A51-52AA-B2E81B85FE2B}"/>
              </a:ext>
            </a:extLst>
          </p:cNvPr>
          <p:cNvSpPr txBox="1"/>
          <p:nvPr/>
        </p:nvSpPr>
        <p:spPr>
          <a:xfrm>
            <a:off x="7193677" y="6399090"/>
            <a:ext cx="4854639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ro-RO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Gavrilas.Fl.Madalin@student.utcluj.ro</a:t>
            </a:r>
            <a:endParaRPr lang="en-US" sz="2000" b="1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58EDC6AB-0DE7-F9CC-5B63-6E3C27327C0D}"/>
              </a:ext>
            </a:extLst>
          </p:cNvPr>
          <p:cNvSpPr txBox="1"/>
          <p:nvPr/>
        </p:nvSpPr>
        <p:spPr>
          <a:xfrm>
            <a:off x="9021834" y="9882776"/>
            <a:ext cx="802580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2000" b="1" dirty="0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2026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4585625-6217-3C73-1CB3-2771FD175D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7901500"/>
            <a:ext cx="1843676" cy="184367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A3B543-1BC6-4A7B-40F7-9C53855BC0E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2212" y="7901500"/>
            <a:ext cx="1847088" cy="1847088"/>
          </a:xfrm>
          <a:prstGeom prst="rect">
            <a:avLst/>
          </a:prstGeom>
        </p:spPr>
      </p:pic>
      <p:sp>
        <p:nvSpPr>
          <p:cNvPr id="2" name="TextBox 36">
            <a:extLst>
              <a:ext uri="{FF2B5EF4-FFF2-40B4-BE49-F238E27FC236}">
                <a16:creationId xmlns:a16="http://schemas.microsoft.com/office/drawing/2014/main" id="{1078D924-5236-ABC3-DE85-8B355AA227B0}"/>
              </a:ext>
            </a:extLst>
          </p:cNvPr>
          <p:cNvSpPr txBox="1"/>
          <p:nvPr/>
        </p:nvSpPr>
        <p:spPr>
          <a:xfrm>
            <a:off x="17907000" y="9552577"/>
            <a:ext cx="548938" cy="7598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3000" b="1" spc="-168">
                <a:solidFill>
                  <a:srgbClr val="FFFFFF"/>
                </a:solidFill>
                <a:latin typeface="Nunito Sans Condensed Bold"/>
                <a:ea typeface="Nunito Sans Condensed Bold"/>
                <a:cs typeface="Nunito Sans Condensed Bold"/>
                <a:sym typeface="Nunito Sans Condensed Bold"/>
              </a:rPr>
              <a:t>17</a:t>
            </a:r>
            <a:endParaRPr lang="en-US" sz="3000" b="1" spc="-168" dirty="0">
              <a:solidFill>
                <a:srgbClr val="FFFFFF"/>
              </a:solidFill>
              <a:latin typeface="Nunito Sans Condensed Bold"/>
              <a:ea typeface="Nunito Sans Condensed Bold"/>
              <a:cs typeface="Nunito Sans Condensed Bold"/>
              <a:sym typeface="Nunito Sans Condensed Bold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2399278-C1FF-8EB9-8B23-A325BEA965C0}"/>
              </a:ext>
            </a:extLst>
          </p:cNvPr>
          <p:cNvSpPr/>
          <p:nvPr/>
        </p:nvSpPr>
        <p:spPr>
          <a:xfrm rot="2585059">
            <a:off x="-4304252" y="-1224229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F85F27B9-F504-A345-A692-78526D70AECF}"/>
              </a:ext>
            </a:extLst>
          </p:cNvPr>
          <p:cNvSpPr/>
          <p:nvPr/>
        </p:nvSpPr>
        <p:spPr>
          <a:xfrm rot="3309400">
            <a:off x="5634014" y="7782905"/>
            <a:ext cx="16230600" cy="6875872"/>
          </a:xfrm>
          <a:custGeom>
            <a:avLst/>
            <a:gdLst/>
            <a:ahLst/>
            <a:cxnLst/>
            <a:rect l="l" t="t" r="r" b="b"/>
            <a:pathLst>
              <a:path w="16230600" h="6875872">
                <a:moveTo>
                  <a:pt x="0" y="0"/>
                </a:moveTo>
                <a:lnTo>
                  <a:pt x="16230600" y="0"/>
                </a:lnTo>
                <a:lnTo>
                  <a:pt x="16230600" y="6875872"/>
                </a:lnTo>
                <a:lnTo>
                  <a:pt x="0" y="68758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1229</Words>
  <Application>Microsoft Office PowerPoint</Application>
  <PresentationFormat>Custom</PresentationFormat>
  <Paragraphs>145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Nunito Sans Condensed Bold</vt:lpstr>
      <vt:lpstr>Cambria Math</vt:lpstr>
      <vt:lpstr>Calibri</vt:lpstr>
      <vt:lpstr>Arial</vt:lpstr>
      <vt:lpstr>Aptos</vt:lpstr>
      <vt:lpstr>Wingdings</vt:lpstr>
      <vt:lpstr>Aileron Bold</vt:lpstr>
      <vt:lpstr>Aileron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Purple and White Modern Gradient Sales Report Presentation</dc:title>
  <dc:creator>mg</dc:creator>
  <cp:lastModifiedBy>Mădălin Gavrilaș</cp:lastModifiedBy>
  <cp:revision>52</cp:revision>
  <dcterms:created xsi:type="dcterms:W3CDTF">2006-08-16T00:00:00Z</dcterms:created>
  <dcterms:modified xsi:type="dcterms:W3CDTF">2026-06-15T11:13:31Z</dcterms:modified>
  <dc:identifier>DAHGihK3DAo</dc:identifier>
</cp:coreProperties>
</file>